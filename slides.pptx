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I'm Sagar. I run GPU infrastructure for AI at CrowdStrike. Today we're hunting a ghost — a latency spike you can see but can't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all know this problem. Container B steals CPU from Container A. Latency spikes, no errors. You've been debugging this for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 limits, cgroups, node pools, anti-affinity. CPU noisy neighbours — solved. You had soundproof walls between tenants.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GPUs don't have cgroups. No soundproof walls. 32 requests share one chip. Isolation kills throughput. The fix isn't soundproofing — it's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= tenant. GPU = the building. Batch = everyone sharing the elevator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is the building. Batch is the elevator. KV cache is the storage room. When the storage room fills up, someone's stuff gets moved to the basement.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token is about three quarters of a word. Alex sends a quick note — 64 tokens. Blake sends a 5-page renovation plan — 4,000 tokens. Each token takes up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Prefill reads the request — fast, once. Decode writes back one word at a time — slower, hundreds of times. TTFT is when you start writing. ITL is how fast you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TTFT is how long before the first word arrives. Under 200ms, nobody notices. Over 2 seconds, they're banging on the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ITL is how fast the elevator moves between floors. 14ms is express. 45ms means Blake loaded his furniture in there. ITL is THE noisy neighbour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tenant in the building — 10% occupied, wasteful. Eight tenants — 65% occupied. Same building, 8x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batching locks everyone in until the last person finishes. 65% waste.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Continuous batching checks after every step. Vacancy drops to 5%. 36x throughput. But now everyone shares the elevator.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building manager decides who moves in. Default is 256 tenants sharing one elevator. Who designed this building?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Alex is the quiet tenant — quick note, in and out. Blake is renovating — 5-page plans, furniture in the elevator, stuff everywhere. Alex is about to have a bad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KV cache is the storage room. Alex's 64 tokens — 3 small boxes. Blake's 4,000 tokens — fills 79% of the room. When it's full, Alex's stuff gets moved to the basement.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Alex moves in alone. Elevator is instant. Storage room empty. Life is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more Alexes. Elevator barely slower. Storage at 18%. The building handles this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Blake moves in. Elevator slows down. Storage room half full. One renovator changed the experience for all five quiet tenants.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more Blakes. Elevator packed. Storage 87%. But the lobby? Empty. Nobody is waiting to get in. This isn't a capacity problem. It's a noisy neighbour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Alex alone: done in 210ms. With Blake: 482ms. Same errand, 2.3x slower, zero errors. The elevator is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storage fills, someone gets evicted. They must re-register from scratch. That's your mystery TTFT spike.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says build more apartments. Wrong. 190ms of work, 1,610ms waiting. The tenant was fine. The building was noisy.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causes. Scheduling: lobby wait — build more buildings. Memory: storage full — occupancy limits. Neighbour: elevator slowed — separate building for renovators.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steps per elevator trip. Check lobby, check storage, evict if needed, ride together — Blake's furniture is in here — drop off. Repeat hundreds of times per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Grafana is the security camera. Prometheus is the sensor network. vLLM metrics for elevator and storage. DCGM for power and structural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floors of monitoring. Application, GPU hardware, host. You need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Baseline. Quiet Sunday morning. Five tenants. Everything green. Remember these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Renovators arrive. TTFT 5x slower. ITL 3x. Storage 87%. Lobby still zero. Not a building shortage — neighbours.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chain. More neighbours times more stuff equals slower for everyone. Don't build more buildings. Send renovators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sensors. Elevator wait, elevator speed — THE noisy neighbour signal, storage, shared storage hits, occupancy, power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alarms. Storage 90% — evictions coming. Elevator 2s — people banging doors. Lobby &gt; 0 — real shortage.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fixes. Cap occupancy at 16. Separate building for renovators. Shared storage for common items. Scale on lobby count, not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Monday morning. Six items. Two to four hours. 50 to 70 percent fewer complaints.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time your LLM p99 spikes, don't ask which tenant is slow. Ask: who else is in the building?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D4FF"/>
                </a:solidFill>
                <a:latin typeface="Calibri"/>
              </a:rPr>
              <a:t>The Noisy Neighbour Inside Your GPU</a:t>
            </a:r>
          </a:p>
          <a:p>
            <a:pPr algn="ctr">
              <a:spcBef>
                <a:spcPts val="2000"/>
              </a:spcBef>
              <a:spcAft>
                <a:spcPts val="400"/>
              </a:spcAft>
            </a:pPr>
            <a:r>
              <a:rPr sz="2800" b="0">
                <a:solidFill>
                  <a:srgbClr val="E8E8E8"/>
                </a:solidFill>
                <a:latin typeface="Calibri"/>
              </a:rPr>
              <a:t>Observing Batched LLM Inference</a:t>
            </a:r>
          </a:p>
          <a:p>
            <a:pPr algn="ctr">
              <a:spcBef>
                <a:spcPts val="3000"/>
              </a:spcBef>
              <a:spcAft>
                <a:spcPts val="4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Sagar Utekar  ·  Senior SRE, CrowdStrike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CNCF Ambassador  ·  Kubestronaut</a:t>
            </a:r>
          </a:p>
          <a:p>
            <a:pPr algn="ctr">
              <a:spcBef>
                <a:spcPts val="3000"/>
              </a:spcBef>
              <a:spcAft>
                <a:spcPts val="400"/>
              </a:spcAft>
            </a:pPr>
            <a:r>
              <a:rPr sz="2000" b="0">
                <a:solidFill>
                  <a:srgbClr val="FFB347"/>
                </a:solidFill>
                <a:latin typeface="Calibri"/>
              </a:rPr>
              <a:t>Observability Summit Europe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The Noisy Neighbour You Already Know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FF4444"/>
                </a:solidFill>
                <a:latin typeface="Calibri"/>
              </a:rPr>
              <a:t>The CPU World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Container B is a rogue batch job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It eats all the CPU on the shared node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Container A — your app — gets throttled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Latency spikes. No errors. Sound familiar?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303520" cy="4754880"/>
          </a:xfrm>
          <a:prstGeom prst="round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39FF14"/>
                </a:solidFill>
                <a:latin typeface="Calibri"/>
              </a:rPr>
              <a:t>Your Metrics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39FF14"/>
                </a:solidFill>
                <a:latin typeface="Consolas"/>
              </a:rPr>
              <a:t>container_cpu_cfs_throttled_seconds_total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39FF14"/>
                </a:solidFill>
                <a:latin typeface="Consolas"/>
              </a:rPr>
              <a:t>container_memory_working_set_bytes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You've been debugging this for 10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How You Fixed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17373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Resource Limits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resources: { limits: { cpu: "2" } 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303520" cy="17373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cgroups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Kernel-level isolation.
Each container gets its own box.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74720"/>
            <a:ext cx="5303520" cy="17373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B87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B877D9"/>
                </a:solidFill>
                <a:latin typeface="Calibri"/>
              </a:rPr>
              <a:t>Node Pools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Dedicated nodes for batch jobs.
Physical separation.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474720"/>
            <a:ext cx="5303520" cy="17373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B347"/>
                </a:solidFill>
                <a:latin typeface="Calibri"/>
              </a:rPr>
              <a:t>Anti-Affinity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Keep troublemakers apart.
Scheduling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9FF14"/>
                </a:solidFill>
                <a:latin typeface="Calibri"/>
              </a:rPr>
              <a:t>CPU noisy neighbours? Solved. You had soundproof walls.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4444"/>
                </a:solidFill>
                <a:latin typeface="Calibri"/>
              </a:rPr>
              <a:t>Now Forget Everything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2926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39FF14"/>
                </a:solidFill>
                <a:latin typeface="Calibri"/>
              </a:rPr>
              <a:t>CPU World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39FF14"/>
                </a:solidFill>
                <a:latin typeface="Calibri"/>
              </a:rPr>
              <a:t>✓  cgroups (soundproof walls)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39FF14"/>
                </a:solidFill>
                <a:latin typeface="Calibri"/>
              </a:rPr>
              <a:t>✓  Resource limits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39FF14"/>
                </a:solidFill>
                <a:latin typeface="Calibri"/>
              </a:rPr>
              <a:t>✓  1 process = 1 core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39FF14"/>
                </a:solidFill>
                <a:latin typeface="Calibri"/>
              </a:rPr>
              <a:t>✓  Isolation is cheap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303520" cy="2926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FF4444"/>
                </a:solidFill>
                <a:latin typeface="Calibri"/>
              </a:rPr>
              <a:t>GPU World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FF4444"/>
                </a:solidFill>
                <a:latin typeface="Calibri"/>
              </a:rPr>
              <a:t>✗  No cgroups (paper-thin walls)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FF4444"/>
                </a:solidFill>
                <a:latin typeface="Calibri"/>
              </a:rPr>
              <a:t>✗  No per-request limits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FF4444"/>
                </a:solidFill>
                <a:latin typeface="Calibri"/>
              </a:rPr>
              <a:t>✗  32 requests = 1 chip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FF4444"/>
                </a:solidFill>
                <a:latin typeface="Calibri"/>
              </a:rPr>
              <a:t>✗  Isolation kills throughput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645920"/>
          </a:xfrm>
          <a:prstGeom prst="roundRect">
            <a:avLst/>
          </a:prstGeom>
          <a:solidFill>
            <a:srgbClr val="1A0A0A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On a GPU, requests MUST share the chip.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FF4444"/>
                </a:solidFill>
                <a:latin typeface="Calibri"/>
              </a:rPr>
              <a:t>The walls are paper-thin.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E8E8E8"/>
                </a:solidFill>
                <a:latin typeface="Calibri"/>
              </a:rPr>
              <a:t>The fix isn't soundproofing — it's installing noise monitors.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Three Words You Need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3474720" cy="27432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3600" b="1">
                <a:solidFill>
                  <a:srgbClr val="00D4FF"/>
                </a:solidFill>
                <a:latin typeface="Calibri"/>
              </a:rPr>
              <a:t>REQUEST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A tenant asking for something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011680"/>
            <a:ext cx="3474720" cy="27432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3600" b="1">
                <a:solidFill>
                  <a:srgbClr val="39FF14"/>
                </a:solidFill>
                <a:latin typeface="Calibri"/>
              </a:rPr>
              <a:t>GPU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The apartment 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011680"/>
            <a:ext cx="3474720" cy="27432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B87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3600" b="1">
                <a:solidFill>
                  <a:srgbClr val="B877D9"/>
                </a:solidFill>
                <a:latin typeface="Calibri"/>
              </a:rPr>
              <a:t>BATCH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Everyone using the elevator at once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The Apartment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D4FF"/>
                </a:solidFill>
                <a:latin typeface="Calibri"/>
              </a:rPr>
              <a:t>GPU = The Building</a:t>
            </a:r>
          </a:p>
          <a:p>
            <a:pPr algn="l">
              <a:spcBef>
                <a:spcPts val="1800"/>
              </a:spcBef>
              <a:spcAft>
                <a:spcPts val="400"/>
              </a:spcAft>
            </a:pPr>
            <a:r>
              <a:rPr sz="2400" b="1">
                <a:solidFill>
                  <a:srgbClr val="B877D9"/>
                </a:solidFill>
                <a:latin typeface="Calibri"/>
              </a:rPr>
              <a:t>Batch = The Elevator (shared, one trip at a time)</a:t>
            </a:r>
          </a:p>
          <a:p>
            <a:pPr algn="l">
              <a:spcBef>
                <a:spcPts val="1800"/>
              </a:spcBef>
              <a:spcAft>
                <a:spcPts val="400"/>
              </a:spcAft>
            </a:pPr>
            <a:r>
              <a:rPr sz="2400" b="1">
                <a:solidFill>
                  <a:srgbClr val="FFB347"/>
                </a:solidFill>
                <a:latin typeface="Calibri"/>
              </a:rPr>
              <a:t>KV Cache = The Storage Room (everyone's stuff piles up)</a:t>
            </a:r>
          </a:p>
          <a:p>
            <a:pPr algn="l">
              <a:spcBef>
                <a:spcPts val="1800"/>
              </a:spcBef>
              <a:spcAft>
                <a:spcPts val="400"/>
              </a:spcAft>
            </a:pPr>
            <a:r>
              <a:rPr sz="2400" b="1">
                <a:solidFill>
                  <a:srgbClr val="E8E8E8"/>
                </a:solidFill>
                <a:latin typeface="Calibri"/>
              </a:rPr>
              <a:t>Requests = Tenants (some quick, some... not)</a:t>
            </a:r>
          </a:p>
          <a:p>
            <a:pPr algn="l">
              <a:spcBef>
                <a:spcPts val="1800"/>
              </a:spcBef>
              <a:spcAft>
                <a:spcPts val="400"/>
              </a:spcAft>
            </a:pPr>
            <a:r>
              <a:rPr sz="2400" b="1">
                <a:solidFill>
                  <a:srgbClr val="FF4444"/>
                </a:solidFill>
                <a:latin typeface="Calibri"/>
              </a:rPr>
              <a:t>Preemption = 'Your stuff is being moved to the basement'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9FF14"/>
                </a:solidFill>
                <a:latin typeface="Calibri"/>
              </a:rPr>
              <a:t>Keep this picture in mind. We'll come back to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What Is a Token?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22860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E8E8E8"/>
                </a:solidFill>
                <a:latin typeface="Calibri"/>
              </a:rPr>
              <a:t>"How are you?"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39FF14"/>
                </a:solidFill>
                <a:latin typeface="Consolas"/>
              </a:rPr>
              <a:t>["How", " are", " you", "?"]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/>
              </a:rPr>
              <a:t>1 token  ≈  ¾ of a word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200" b="0">
                <a:solidFill>
                  <a:srgbClr val="39FF14"/>
                </a:solidFill>
                <a:latin typeface="Calibri"/>
              </a:rPr>
              <a:t>64 tokens  ≈  a quick note under the door (Alex)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200" b="0">
                <a:solidFill>
                  <a:srgbClr val="FF4444"/>
                </a:solidFill>
                <a:latin typeface="Calibri"/>
              </a:rPr>
              <a:t>4,000 tokens  ≈  a 5-page renovation plan (Blake)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B347"/>
                </a:solidFill>
                <a:latin typeface="Calibri"/>
              </a:rPr>
              <a:t>Every token = more stuff in the storage room.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FFB347"/>
                </a:solidFill>
                <a:latin typeface="Calibri"/>
              </a:rPr>
              <a:t>Blake's 4,000 tokens = 4 GB.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Two Phases of Every Reply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27432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PREFILL — Reading the request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Like reading a letter from a tenant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Happens once, up front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Compute-bound (building processes it fast)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303520" cy="27432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B87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B877D9"/>
                </a:solidFill>
                <a:latin typeface="Calibri"/>
              </a:rPr>
              <a:t>DECODE — Writing the reply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Like writing back, one word at a time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Happens N times (once per token)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Memory-bound (building slows down here)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645920"/>
          </a:xfrm>
          <a:prstGeom prst="round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TTFT = time to start writing back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B877D9"/>
                </a:solidFill>
                <a:latin typeface="Calibri"/>
              </a:rPr>
              <a:t>ITL = gap between each word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4FF"/>
                </a:solidFill>
                <a:latin typeface="Calibri"/>
              </a:rPr>
              <a:t>TTFT: How Long to Get in the Elevator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D4FF"/>
                </a:solidFill>
                <a:latin typeface="Calibri"/>
              </a:rPr>
              <a:t>TTFT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2800" b="0">
                <a:solidFill>
                  <a:srgbClr val="E8E8E8"/>
                </a:solidFill>
                <a:latin typeface="Calibri"/>
              </a:rPr>
              <a:t>Time to First Token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ctr">
              <a:spcBef>
                <a:spcPts val="2000"/>
              </a:spcBef>
              <a:spcAft>
                <a:spcPts val="4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[Wait in lobby]  →  [Ride up]  →  First word arrives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ctr">
              <a:spcBef>
                <a:spcPts val="1600"/>
              </a:spcBef>
              <a:spcAft>
                <a:spcPts val="400"/>
              </a:spcAft>
            </a:pPr>
            <a:r>
              <a:rPr sz="2000" b="0">
                <a:solidFill>
                  <a:srgbClr val="00D4FF"/>
                </a:solidFill>
                <a:latin typeface="Consolas"/>
              </a:rPr>
              <a:t>TTFT  =  lobby_wait  +  elevator_ride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2200" b="0">
                <a:solidFill>
                  <a:srgbClr val="39FF14"/>
                </a:solidFill>
                <a:latin typeface="Calibri"/>
              </a:rPr>
              <a:t>&lt; 200 ms  →  Tenant doesn't even notice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2200" b="0">
                <a:solidFill>
                  <a:srgbClr val="FF4444"/>
                </a:solidFill>
                <a:latin typeface="Calibri"/>
              </a:rPr>
              <a:t>&gt; 2 seconds  →  Tenant starts banging on the door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B347"/>
                </a:solidFill>
                <a:latin typeface="Calibri"/>
              </a:rPr>
              <a:t>ITL: How Slow the Elevator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B347"/>
                </a:solidFill>
                <a:latin typeface="Calibri"/>
              </a:rPr>
              <a:t>ITL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2800" b="0">
                <a:solidFill>
                  <a:srgbClr val="E8E8E8"/>
                </a:solidFill>
                <a:latin typeface="Calibri"/>
              </a:rPr>
              <a:t>Inter-Token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9FF14"/>
                </a:solidFill>
                <a:latin typeface="Calibri"/>
              </a:rPr>
              <a:t>14 ms between floors — express elevator  ✓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200" b="0">
                <a:solidFill>
                  <a:srgbClr val="FF4444"/>
                </a:solidFill>
                <a:latin typeface="Calibri"/>
              </a:rPr>
              <a:t>45 ms between floors — loaded with Blake's furniture  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4630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FFB347"/>
                </a:solidFill>
                <a:latin typeface="Calibri"/>
              </a:rPr>
              <a:t>ITL is THE noisy neighbour signal.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The elevator slows down when Blake loads his renovation materials in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Why We Batch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32004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FF4444"/>
                </a:solidFill>
                <a:latin typeface="Calibri"/>
              </a:rPr>
              <a:t>One Tenant in the Building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Building 10% occupied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FF4444"/>
                </a:solidFill>
                <a:latin typeface="Calibri"/>
              </a:rPr>
              <a:t>You pay rent for 100% of the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303520" cy="32004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39FF14"/>
                </a:solidFill>
                <a:latin typeface="Calibri"/>
              </a:rPr>
              <a:t>Eight Tenants Batched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Building 65% occupied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39FF14"/>
                </a:solidFill>
                <a:latin typeface="Calibri"/>
              </a:rPr>
              <a:t>Same building, 8x the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9FF14"/>
                </a:solidFill>
                <a:latin typeface="Calibri"/>
              </a:rPr>
              <a:t>Batching = filling the building. That's why every LLM server does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Static Batching: The Old 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E8E8"/>
                </a:solidFill>
                <a:latin typeface="Calibri"/>
              </a:rPr>
              <a:t>Lock all tenants in until the last one's lease expires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1064240" cy="7772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D4FF"/>
                </a:solidFill>
                <a:latin typeface="Calibri"/>
              </a:rPr>
              <a:t>Tenant 1: Short stay — done in March, sits empty until December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11064240" cy="7772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B87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B877D9"/>
                </a:solidFill>
                <a:latin typeface="Calibri"/>
              </a:rPr>
              <a:t>Tenant 2: Medium stay — done in June, sits empty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11064240" cy="7772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9FF14"/>
                </a:solidFill>
                <a:latin typeface="Calibri"/>
              </a:rPr>
              <a:t>Tenant 3: Short stay — done in February, sits empty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11064240" cy="7772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Tenant 4: 12-month lease — everyone waits for this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4444"/>
                </a:solidFill>
                <a:latin typeface="Calibri"/>
              </a:rPr>
              <a:t>65% of the building sits EMPTY waiting for Tenant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Continuous Batching: Month-to-Month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8E8"/>
                </a:solidFill>
                <a:latin typeface="Calibri"/>
              </a:rPr>
              <a:t>Check after every month. Someone moved out? Fill the apartment immediately.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D4FF"/>
                </a:solidFill>
                <a:latin typeface="Calibri"/>
              </a:rPr>
              <a:t>Step 1:  Tenants 1, 2, 3 move in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200" b="0">
                <a:solidFill>
                  <a:srgbClr val="39FF14"/>
                </a:solidFill>
                <a:latin typeface="Calibri"/>
              </a:rPr>
              <a:t>Step 2:  Tenant 3 moves out  →  Tenant 4 moves in immediately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200" b="0">
                <a:solidFill>
                  <a:srgbClr val="39FF14"/>
                </a:solidFill>
                <a:latin typeface="Calibri"/>
              </a:rPr>
              <a:t>Step 3:  Tenant 1 moves out  →  Tenant 5 fills the spot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023360"/>
            <a:ext cx="7589520" cy="8229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&lt;5% vacancy.  36x more tenants served (Orca, 2022)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12080"/>
            <a:ext cx="11064240" cy="1097280"/>
          </a:xfrm>
          <a:prstGeom prst="roundRect">
            <a:avLst/>
          </a:prstGeom>
          <a:solidFill>
            <a:srgbClr val="1A0A0A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But now everyone shares the elevator.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FF4444"/>
                </a:solidFill>
                <a:latin typeface="Calibri"/>
              </a:rPr>
              <a:t>Blake's furniture slows it for everyone.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The Building Manager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/>
              </a:rPr>
              <a:t>New tenant arrives  →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E8E8E8"/>
                </a:solidFill>
                <a:latin typeface="Calibri"/>
              </a:rPr>
              <a:t>Storage room has space?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000" b="0">
                <a:solidFill>
                  <a:srgbClr val="39FF14"/>
                </a:solidFill>
                <a:latin typeface="Calibri"/>
              </a:rPr>
              <a:t>  YES  →  Move in! (prefill)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000" b="0">
                <a:solidFill>
                  <a:srgbClr val="FFB347"/>
                </a:solidFill>
                <a:latin typeface="Calibri"/>
              </a:rPr>
              <a:t>  NO   →  Can we move someone's stuff to basement?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FFB347"/>
                </a:solidFill>
                <a:latin typeface="Calibri"/>
              </a:rPr>
              <a:t>          YES  →  Evict, then move 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FF4444"/>
                </a:solidFill>
                <a:latin typeface="Calibri"/>
              </a:rPr>
              <a:t>          NO   →  Wait in lobby (queue)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onsolas"/>
              </a:rPr>
              <a:t>--max-num-seqs 256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Default: 256 tenants sharing one elevator. Madness.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Meet Your Neighbours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9377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4000" b="1">
                <a:solidFill>
                  <a:srgbClr val="00D4FF"/>
                </a:solidFill>
                <a:latin typeface="Calibri"/>
              </a:rPr>
              <a:t>ALEX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00D4FF"/>
                </a:solidFill>
                <a:latin typeface="Calibri"/>
              </a:rPr>
              <a:t>The Quiet Tenant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'Can you summarise this Jira ticket?'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64 tokens — a quick note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In and out in minutes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Alex will file the noise complaint.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9377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4000" b="1">
                <a:solidFill>
                  <a:srgbClr val="FF4444"/>
                </a:solidFill>
                <a:latin typeface="Calibri"/>
              </a:rPr>
              <a:t>BLAKE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0">
                <a:solidFill>
                  <a:srgbClr val="FF4444"/>
                </a:solidFill>
                <a:latin typeface="Calibri"/>
              </a:rPr>
              <a:t>The Renovator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'Write a comprehensive capacity report'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4,000 tokens — a 5-page renovation plan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Same building, same elevator, same everything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FF4444"/>
                </a:solidFill>
                <a:latin typeface="Calibri"/>
              </a:rPr>
              <a:t>Blake is about to ruin Alex's morning.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The Storage Room Problem (KV Cache)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64240" cy="640080"/>
          </a:xfrm>
          <a:prstGeom prst="round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B347"/>
                </a:solidFill>
                <a:latin typeface="Calibri"/>
              </a:rPr>
              <a:t>Building Storage Room — 100% capacity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530352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Alex's stuff: 3 small boxes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D4FF"/>
                </a:solidFill>
                <a:latin typeface="Calibri"/>
              </a:rPr>
              <a:t>Takes up 8% of the 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194560"/>
            <a:ext cx="530352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alibri"/>
              </a:rPr>
              <a:t>Blake's stuff: Massive renovation materials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Takes up 79% of the room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11064240" cy="914400"/>
          </a:xfrm>
          <a:prstGeom prst="roundRect">
            <a:avLst/>
          </a:prstGeom>
          <a:solidFill>
            <a:srgbClr val="1A0A0A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When the storage room is full... someone's stuff gets moved to the basement.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2A0A0A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FF4444"/>
                </a:solidFill>
                <a:latin typeface="Calibri"/>
              </a:rPr>
              <a:t>STORAGE FULL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ALEX'S BOXES MOVED TO BASEMENT (PREEMPTED)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Step 1: Alex Moves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347"/>
                </a:solidFill>
                <a:latin typeface="Calibri"/>
              </a:rPr>
              <a:t>WALKTHROUGH  ·  1 OF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18288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The Building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1 tenant, 7 empty apartments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Quiet building.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TTFT:  82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4028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ITL:  14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01752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Storage:  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9476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Occupancy: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5087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8E8"/>
                </a:solidFill>
                <a:latin typeface="Calibri"/>
              </a:rPr>
              <a:t>Elevator instant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8E8"/>
                </a:solidFill>
                <a:latin typeface="Calibri"/>
              </a:rPr>
              <a:t>Express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0632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8E8"/>
                </a:solidFill>
                <a:latin typeface="Calibri"/>
              </a:rPr>
              <a:t>Almost empty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8404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8E8"/>
                </a:solidFill>
                <a:latin typeface="Calibri"/>
              </a:rPr>
              <a:t>Quiet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9FF14"/>
                </a:solidFill>
                <a:latin typeface="Calibri"/>
              </a:rPr>
              <a:t>Quiet building. Fast elevator. Life is good.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Step 2: Four More Quiet Tenants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347"/>
                </a:solidFill>
                <a:latin typeface="Calibri"/>
              </a:rPr>
              <a:t>WALKTHROUGH  ·  2 OF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18288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The Building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5 tenants, 3 empty apartments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All quiet.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TTFT:  85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4028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ITL:  15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01752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Storage:  18%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9476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Occupancy: 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9FF14"/>
                </a:solidFill>
                <a:latin typeface="Calibri"/>
              </a:rPr>
              <a:t>Five quiet tenants. Elevator still fast. Building barely notices.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Step 3: The Renovator Arrives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347"/>
                </a:solidFill>
                <a:latin typeface="Calibri"/>
              </a:rPr>
              <a:t>WALKTHROUGH  ·  3 OF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22860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B347"/>
                </a:solidFill>
                <a:latin typeface="Calibri"/>
              </a:rPr>
              <a:t>The Building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5 quiet tenants + 1 RENOVATOR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Furniture in the elevator.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Drilling starts.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TTFT:  85 → 180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8E8"/>
                </a:solidFill>
                <a:latin typeface="Calibri"/>
              </a:rPr>
              <a:t>Elevator slower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4028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ITL:  15 → 32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240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8E8"/>
                </a:solidFill>
                <a:latin typeface="Calibri"/>
              </a:rPr>
              <a:t>Furniture in the 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01752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Storage:  18 → 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017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8E8"/>
                </a:solidFill>
                <a:latin typeface="Calibri"/>
              </a:rPr>
              <a:t>Renovation materials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794760"/>
            <a:ext cx="5303520" cy="6400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Occupancy: 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B347"/>
                </a:solidFill>
                <a:latin typeface="Calibri"/>
              </a:rPr>
              <a:t>ONE renovator. The experience changed for ALL five quiet tenants.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Step 4: Two More Renovators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347"/>
                </a:solidFill>
                <a:latin typeface="Calibri"/>
              </a:rPr>
              <a:t>WALKTHROUGH  ·  4 OF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22860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The Building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5 quiet + 3 RENOVATORS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Elevator full of furniture.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Storage overflowing.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Alex's stuff moved to basement.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3474720" cy="5486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FF4444"/>
                </a:solidFill>
                <a:latin typeface="Calibri"/>
              </a:rPr>
              <a:t>TTFT:  420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4444"/>
                </a:solidFill>
                <a:latin typeface="Calibri"/>
              </a:rPr>
              <a:t>Elevator packed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21408"/>
            <a:ext cx="3474720" cy="5486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FF4444"/>
                </a:solidFill>
                <a:latin typeface="Calibri"/>
              </a:rPr>
              <a:t>ITL:  43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21214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4444"/>
                </a:solidFill>
                <a:latin typeface="Calibri"/>
              </a:rPr>
              <a:t>Crawling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79776"/>
            <a:ext cx="3474720" cy="5486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FF4444"/>
                </a:solidFill>
                <a:latin typeface="Calibri"/>
              </a:rPr>
              <a:t>Storage:  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77977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4444"/>
                </a:solidFill>
                <a:latin typeface="Calibri"/>
              </a:rPr>
              <a:t>Almost 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438144"/>
            <a:ext cx="3474720" cy="5486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FF4444"/>
                </a:solidFill>
                <a:latin typeface="Calibri"/>
              </a:rPr>
              <a:t>Occupancy: 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43814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4444"/>
                </a:solidFill>
                <a:latin typeface="Calibri"/>
              </a:rPr>
              <a:t>Full building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096512"/>
            <a:ext cx="3474720" cy="5486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39FF14"/>
                </a:solidFill>
                <a:latin typeface="Calibri"/>
              </a:rPr>
              <a:t>Lobby queue: 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409651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FF14"/>
                </a:solidFill>
                <a:latin typeface="Calibri"/>
              </a:rPr>
              <a:t>Still zero!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064240" cy="1371600"/>
          </a:xfrm>
          <a:prstGeom prst="roundRect">
            <a:avLst/>
          </a:prstGeom>
          <a:solidFill>
            <a:srgbClr val="1A0A0A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Three renovators. Building is full.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But the lobby is EMPTY.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E8E8E8"/>
                </a:solidFill>
                <a:latin typeface="Calibri"/>
              </a:rPr>
              <a:t>It's not a capacity problem. It's a neighbour problem.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What Alex Experiences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6424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Alex alone:  elevator 82 ms, each floor 14 ms, done in 210 ms.  Smooth.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1106424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Alex + Blake:  elevator 120 ms, each floor 45 ms, done in 482 ms.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FF4444"/>
                </a:solidFill>
                <a:latin typeface="Calibri"/>
              </a:rPr>
              <a:t>Same errand.  2.3x slower.  No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11064240" cy="914400"/>
          </a:xfrm>
          <a:prstGeom prst="roundRect">
            <a:avLst/>
          </a:prstGeom>
          <a:solidFill>
            <a:srgbClr val="1A0A0A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alibri"/>
              </a:rPr>
              <a:t>ITL x floors = phantom delay. 3x slower elevator on 64 floors = +2 seconds you can't explain.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86400"/>
            <a:ext cx="11064240" cy="8229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The noisy neighbour slows the elevator. Monitor the elevator speed (ITL).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Eviction Notice: Kicked Out of the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4444"/>
                </a:solidFill>
                <a:latin typeface="Calibri"/>
              </a:rPr>
              <a:t>1.  Storage room hits 95%</a:t>
            </a:r>
          </a:p>
          <a:p>
            <a:pPr algn="l">
              <a:spcBef>
                <a:spcPts val="1800"/>
              </a:spcBef>
              <a:spcAft>
                <a:spcPts val="400"/>
              </a:spcAft>
            </a:pPr>
            <a:r>
              <a:rPr sz="2400" b="1">
                <a:solidFill>
                  <a:srgbClr val="FFB347"/>
                </a:solidFill>
                <a:latin typeface="Calibri"/>
              </a:rPr>
              <a:t>2.  Building manager picks the smallest tenant</a:t>
            </a:r>
          </a:p>
          <a:p>
            <a:pPr algn="l">
              <a:spcBef>
                <a:spcPts val="1800"/>
              </a:spcBef>
              <a:spcAft>
                <a:spcPts val="400"/>
              </a:spcAft>
            </a:pPr>
            <a:r>
              <a:rPr sz="2400" b="1">
                <a:solidFill>
                  <a:srgbClr val="FF4444"/>
                </a:solidFill>
                <a:latin typeface="Calibri"/>
              </a:rPr>
              <a:t>3.  Moves their stuff to the basement (CPU/disk)</a:t>
            </a:r>
          </a:p>
          <a:p>
            <a:pPr algn="l">
              <a:spcBef>
                <a:spcPts val="1800"/>
              </a:spcBef>
              <a:spcAft>
                <a:spcPts val="400"/>
              </a:spcAft>
            </a:pPr>
            <a:r>
              <a:rPr sz="2400" b="1">
                <a:solidFill>
                  <a:srgbClr val="FF4444"/>
                </a:solidFill>
                <a:latin typeface="Calibri"/>
              </a:rPr>
              <a:t>4.  When they come back: must re-register from scratch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06240"/>
            <a:ext cx="11064240" cy="822960"/>
          </a:xfrm>
          <a:prstGeom prst="round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39FF14"/>
                </a:solidFill>
                <a:latin typeface="Consolas"/>
              </a:rPr>
              <a:t>vllm:num_preemptions_total  # The complaint nobody tracks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Re-registration after eviction looks like a brand-new tenant.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That's your mystery TTFT spike.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Your Dashboard Lies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7548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What Your Dashboard Shows: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RATE:  Normal  ✓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ERRORS:  0  ✓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alibri"/>
              </a:rPr>
              <a:t>DURATION P99:  1.8s  ✗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E8E8E8"/>
                </a:solidFill>
                <a:latin typeface="Calibri"/>
              </a:rPr>
              <a:t>Conclusion: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alibri"/>
              </a:rPr>
              <a:t>Slow tenants. Build more apartments.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7548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What Actually Happened: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190 ms of actual work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alibri"/>
              </a:rPr>
              <a:t>1,610 ms WAITING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alibri"/>
              </a:rPr>
              <a:t>(evicted, re-registered, elevator delays)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Storage: 94% full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B347"/>
                </a:solidFill>
                <a:latin typeface="Calibri"/>
              </a:rPr>
              <a:t>Occupancy: 28 tenants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Blake: generating 3,000+ tokens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FF4444"/>
                </a:solidFill>
                <a:latin typeface="Calibri"/>
              </a:rPr>
              <a:t>Alex: evicted twice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E8E8E8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39FF14"/>
                </a:solidFill>
                <a:latin typeface="Calibri"/>
              </a:rPr>
              <a:t>The tenant was fine. The building was noisy.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Three Causes of Delays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64240" cy="141732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SCHEDULING — Waiting in the lobby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onsolas"/>
              </a:rPr>
              <a:t>Metric: vllm:num_requests_waiting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Fix: Build more buildings (scale out)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11064240" cy="141732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B347"/>
                </a:solidFill>
                <a:latin typeface="Calibri"/>
              </a:rPr>
              <a:t>MEMORY — Storage room full, evictions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onsolas"/>
              </a:rPr>
              <a:t>Metric: vllm:kv_cache_usage_perc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Fix: Occupancy limits, shared storage (prefix caching)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11064240" cy="141732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NEIGHBOUR — Elevator slowed by renovators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onsolas"/>
              </a:rPr>
              <a:t>Metric: vllm:inter_token_latency_seconds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Fix: Send renovators to a different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B347"/>
                </a:solidFill>
                <a:latin typeface="Calibri"/>
              </a:rPr>
              <a:t>Your dashboard shows the complaint. These three tell you the cause.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Inside One Elevator 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Calibri"/>
              </a:rPr>
              <a:t>Happens hundreds of times per 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/>
              </a:rPr>
              <a:t>1.  CHECK LOBBY — 3 people waiting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2200" b="1">
                <a:solidFill>
                  <a:srgbClr val="FFB347"/>
                </a:solidFill>
                <a:latin typeface="Calibri"/>
              </a:rPr>
              <a:t>2.  CHECK STORAGE — 79% full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3.  EVICT IF NEEDED — 2 tenants moved to basement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4.  ELEVATOR RIDE — 24 tenants share one trip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2200" b="0">
                <a:solidFill>
                  <a:srgbClr val="FF4444"/>
                </a:solidFill>
                <a:latin typeface="Calibri"/>
              </a:rPr>
              <a:t>     ← Blake's furniture is in here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5.  DROP OFF — 1 tenant done, 23 continue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2200" b="1">
                <a:solidFill>
                  <a:srgbClr val="E8E8E8"/>
                </a:solidFill>
                <a:latin typeface="Calibri"/>
              </a:rPr>
              <a:t>↩  Repeat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The Monitoring System (Observability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  <a:latin typeface="Calibri"/>
              </a:rPr>
              <a:t>GRAFANA — The building's security cameras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>↓ queries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PROMETHEUS — The sensor network (checks every 15s)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>↓ scrapes                         ↓ scrapes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E8E8E8"/>
                </a:solidFill>
                <a:latin typeface="Calibr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4754880" cy="18288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vLLM /metrics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Elevator speed, storage %,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lobby size, occupancy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657600"/>
            <a:ext cx="4754880" cy="182880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DCGM Exporter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Power usage, temperature,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structural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Calibri"/>
              </a:rPr>
              <a:t>Four components. All open-source. No vendor lock-in.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Where to Look: Three Floors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6424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Penthouse — Application (vLLM /metrics)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TTFT  ·  ITL  ·  storage %  ·  occupancy  ·  lobby  ·  shared-storage hits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1106424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Mechanical Floor — GPU (DCGM Exporter)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Tensor core %  ·  memory used/free  ·  power  ·  temperature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1106424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Basement — Host (node_exporter)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E8E8E8"/>
                </a:solidFill>
                <a:latin typeface="Calibri"/>
              </a:rPr>
              <a:t>CPU  ·  network  ·  disk (overflow storage)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669280"/>
            <a:ext cx="8503920" cy="73152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You need all three floors to diagnose a noisy neighbour.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[PRE-RECORDED] Phase 1: Quiet Sunday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347"/>
                </a:solidFill>
                <a:latin typeface="Calibri"/>
              </a:rPr>
              <a:t>[Replace with Grafana screenshot after pre-recording]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TTFT p99:  82 ms 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64592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ITL p99:  14 ms 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Storage:  18%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Occupancy: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10896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Power:  38%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0896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Lobby:  0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9FF14"/>
                </a:solidFill>
                <a:latin typeface="Calibri"/>
              </a:rPr>
              <a:t>Everything quiet. Remember these numbers.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[DEMO] Phase 2: The Renovators Arrive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Calibri"/>
              </a:rPr>
              <a:t>+3 renovators. Same building. Alex didn't change — the building did.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alibri"/>
              </a:rPr>
              <a:t>TTFT:  82 → 420 ms  ▲5x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64592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alibri"/>
              </a:rPr>
              <a:t>ITL:  14 → 43 ms  ▲3x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alibri"/>
              </a:rPr>
              <a:t>Storage:  18 → 87%  DANGER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Occupancy:  5 → 8  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10896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Power:  38 → 74%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08960"/>
            <a:ext cx="32918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Lobby:  0  ✓  STILL ZERO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46320"/>
            <a:ext cx="11064240" cy="1371600"/>
          </a:xfrm>
          <a:prstGeom prst="roundRect">
            <a:avLst/>
          </a:prstGeom>
          <a:solidFill>
            <a:srgbClr val="1A0A0A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39FF14"/>
                </a:solidFill>
                <a:latin typeface="Calibri"/>
              </a:rPr>
              <a:t>Lobby is EMPTY. Nobody waiting to get in.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FF4444"/>
                </a:solidFill>
                <a:latin typeface="Calibri"/>
              </a:rPr>
              <a:t>It's not a building shortage. It's a neighbour problem.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The Chain Reaction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430000" cy="1097280"/>
          </a:xfrm>
          <a:prstGeom prst="round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FFB347"/>
                </a:solidFill>
                <a:latin typeface="Calibri"/>
              </a:rPr>
              <a:t>Blake moves in → Occupancy 5→8 → Storage 18→87% → Evictions → Elevator 14→43ms → Alex: 210→482ms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E8E8"/>
                </a:solidFill>
                <a:latin typeface="Calibri"/>
              </a:rPr>
              <a:t>More renovators  x  more materials  =  slower for everyone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110642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4444"/>
                </a:solidFill>
                <a:latin typeface="Calibri"/>
              </a:rPr>
              <a:t>❌  Dashboard says: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FF4444"/>
                </a:solidFill>
                <a:latin typeface="Calibri"/>
              </a:rPr>
              <a:t>Building 74% occupied, elevator slow →  BUILD MORE BUILDINGS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✓  Reality: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39FF14"/>
                </a:solidFill>
                <a:latin typeface="Calibri"/>
              </a:rPr>
              <a:t>Cap occupancy. Send renovators elsewhere →  FEWER NEIGHBOURS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Six Sensors for Your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347"/>
                </a:solidFill>
                <a:latin typeface="Calibri"/>
              </a:rPr>
              <a:t>Take a photo of this slide.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749808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00D4FF"/>
                </a:solidFill>
                <a:latin typeface="Calibri"/>
              </a:rPr>
              <a:t>Elevator Wait (TTFT p99)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8E8E8"/>
                </a:solidFill>
                <a:latin typeface="Consolas"/>
              </a:rPr>
              <a:t>histogram_quantile(0.99, rate(vllm:time_to_first_token_seconds_bucket[5m]))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12848"/>
            <a:ext cx="11247120" cy="749808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B347"/>
                </a:solidFill>
                <a:latin typeface="Calibri"/>
              </a:rPr>
              <a:t>Elevator Speed (ITL p99) — THE SIGNAL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8E8E8"/>
                </a:solidFill>
                <a:latin typeface="Consolas"/>
              </a:rPr>
              <a:t>histogram_quantile(0.99, rate(vllm:inter_token_latency_seconds_bucket[5m]))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54096"/>
            <a:ext cx="11247120" cy="749808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8800"/>
                </a:solidFill>
                <a:latin typeface="Calibri"/>
              </a:rPr>
              <a:t>Storage Fullness (KV Cache)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8E8E8"/>
                </a:solidFill>
                <a:latin typeface="Consolas"/>
              </a:rPr>
              <a:t>vllm:kv_cache_usage_perc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95344"/>
            <a:ext cx="11247120" cy="749808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B87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B877D9"/>
                </a:solidFill>
                <a:latin typeface="Calibri"/>
              </a:rPr>
              <a:t>Shared Storage Hits (Prefix Cache)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8E8E8"/>
                </a:solidFill>
                <a:latin typeface="Consolas"/>
              </a:rPr>
              <a:t>rate(vllm:prefix_cache_hits[5m]) / rate(vllm:prefix_cache_queries[5m])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36592"/>
            <a:ext cx="11247120" cy="749808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B87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B877D9"/>
                </a:solidFill>
                <a:latin typeface="Calibri"/>
              </a:rPr>
              <a:t>Occupancy (Batch Size)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8E8E8"/>
                </a:solidFill>
                <a:latin typeface="Consolas"/>
              </a:rPr>
              <a:t>vllm:num_requests_running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577840"/>
            <a:ext cx="11247120" cy="749808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4444"/>
                </a:solidFill>
                <a:latin typeface="Calibri"/>
              </a:rPr>
              <a:t>Power Load (Tensor Core)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8E8E8"/>
                </a:solidFill>
                <a:latin typeface="Consolas"/>
              </a:rPr>
              <a:t>DCGM_FI_PROF_PIPE_TENSOR_ACTIVE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Three Fire Alarms That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6424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FFB347"/>
                </a:solidFill>
                <a:latin typeface="Calibri"/>
              </a:rPr>
              <a:t>Storage &gt; 90% for 2 minutes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Evictions imminent. Cap occupancy.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1106424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FF4444"/>
                </a:solidFill>
                <a:latin typeface="Calibri"/>
              </a:rPr>
              <a:t>Elevator wait &gt; 2s for 5 minutes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Tenants banging on doors. Scale or shed 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11064240" cy="128016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400" b="1">
                <a:solidFill>
                  <a:srgbClr val="00D4FF"/>
                </a:solidFill>
                <a:latin typeface="Calibri"/>
              </a:rPr>
              <a:t>Lobby &gt; 0 for 3 minutes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E8E8E8"/>
                </a:solidFill>
                <a:latin typeface="Calibri"/>
              </a:rPr>
              <a:t>Real building shortage. Build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9FF14"/>
                </a:solidFill>
                <a:latin typeface="Calibri"/>
              </a:rPr>
              <a:t>Three alarms. Not thirty.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Taming the Renovators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12344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1. Occupancy Cap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onsolas"/>
              </a:rPr>
              <a:t>--max-num-seqs 16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alibri"/>
              </a:rPr>
              <a:t>Default is 256 tenants! Start at 16.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14600"/>
            <a:ext cx="11064240" cy="12344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B87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B877D9"/>
                </a:solidFill>
                <a:latin typeface="Calibri"/>
              </a:rPr>
              <a:t>2. Separate Building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onsolas"/>
              </a:rPr>
              <a:t>Route by request length.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alibri"/>
              </a:rPr>
              <a:t>Renovators get their own building. Alex keeps the express elevator.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11064240" cy="12344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9FF14"/>
                </a:solidFill>
                <a:latin typeface="Calibri"/>
              </a:rPr>
              <a:t>3. Shared Storage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onsolas"/>
              </a:rPr>
              <a:t>--enable-prefix-caching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alibri"/>
              </a:rPr>
              <a:t>Same system prompt = share the storage. 30-50% savings.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66360"/>
            <a:ext cx="11064240" cy="1234440"/>
          </a:xfrm>
          <a:prstGeom prst="roundRect">
            <a:avLst/>
          </a:prstGeom>
          <a:solidFill>
            <a:srgbClr val="12173D"/>
          </a:solidFill>
          <a:ln w="254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FFB347"/>
                </a:solidFill>
                <a:latin typeface="Calibri"/>
              </a:rPr>
              <a:t>4. Scale on Lobby, Not Power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onsolas"/>
              </a:rPr>
              <a:t>Lobby count is a leading indicator.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E8E8E8"/>
                </a:solidFill>
                <a:latin typeface="Calibri"/>
              </a:rPr>
              <a:t>Scale when lobby &gt; 0, not when power hits 80%.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E8"/>
                </a:solidFill>
                <a:latin typeface="Calibri"/>
              </a:rPr>
              <a:t>Monday Morning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8E8"/>
                </a:solidFill>
                <a:latin typeface="Calibri"/>
              </a:rPr>
              <a:t>☐  Install elevator sensors (vLLM /metrics → Prometheus)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☐  Install power monitors (DCGM Exporter on GPU nodes)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☐  Build the 6-sensor dashboard (slide 31)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☐  Set the 3 fire alarms (slide 32)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☐  Cap occupancy  --max-num-seqs 16  (watch elevator speed)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2200" b="0">
                <a:solidFill>
                  <a:srgbClr val="E8E8E8"/>
                </a:solidFill>
                <a:latin typeface="Calibri"/>
              </a:rPr>
              <a:t>☐  Enable shared storage  --enable-prefix-caching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9FF14"/>
                </a:solidFill>
                <a:latin typeface="Calibri"/>
              </a:rPr>
              <a:t>2-4 hours to install. 50-70% fewer complaints on mixed-tenant buildings.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E8E8"/>
                </a:solidFill>
                <a:latin typeface="Calibri"/>
              </a:rPr>
              <a:t>Next time your LLM p99 spikes...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ctr">
              <a:spcBef>
                <a:spcPts val="2000"/>
              </a:spcBef>
              <a:spcAft>
                <a:spcPts val="400"/>
              </a:spcAft>
            </a:pPr>
            <a:r>
              <a:rPr sz="2800" b="0">
                <a:solidFill>
                  <a:srgbClr val="FF4444"/>
                </a:solidFill>
                <a:latin typeface="Calibri"/>
              </a:rPr>
              <a:t>don't ask 'which tenant is slow?'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ctr">
              <a:spcBef>
                <a:spcPts val="1200"/>
              </a:spcBef>
              <a:spcAft>
                <a:spcPts val="400"/>
              </a:spcAft>
            </a:pPr>
            <a:r>
              <a:rPr sz="2800" b="1">
                <a:solidFill>
                  <a:srgbClr val="39FF14"/>
                </a:solidFill>
                <a:latin typeface="Calibri"/>
              </a:rPr>
              <a:t>Ask: 'who else is in the building?'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4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ctr">
              <a:spcBef>
                <a:spcPts val="3000"/>
              </a:spcBef>
              <a:spcAft>
                <a:spcPts val="400"/>
              </a:spcAft>
            </a:pPr>
            <a:r>
              <a:rPr sz="2000" b="0">
                <a:solidFill>
                  <a:srgbClr val="00D4FF"/>
                </a:solidFill>
                <a:latin typeface="Calibri"/>
              </a:rPr>
              <a:t>github.com/Sagar2366/gpu-noisy-neighbour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sz="2000" b="0">
                <a:solidFill>
                  <a:srgbClr val="00D4FF"/>
                </a:solidFill>
                <a:latin typeface="Calibri"/>
              </a:rPr>
              <a:t>@SaijUtekar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ctr">
              <a:spcBef>
                <a:spcPts val="2000"/>
              </a:spcBef>
              <a:spcAft>
                <a:spcPts val="400"/>
              </a:spcAft>
            </a:pPr>
            <a:r>
              <a:rPr sz="3600" b="1">
                <a:solidFill>
                  <a:srgbClr val="00D4FF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