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Sagar. I run GPU infrastructure for AI workloads at CrowdStrike. Today we're hunting a ghost — a latency spike you can see on your dashboard but can't explain with your traces. The victim is Alex. The culprit is Blake. And they both live inside the same GPU.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all debugged this. Container B eats CPU, your app gets throttled. You fixed it with cgroups — soundproof walls between tenants. Resource limits, node pools, anti-affinity. Problem solved. [PAUSE] Now let's talk about a building with no soundproofing.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 let the table sink in] GPUs don't have cgroups. There are no soundproof walls. 32 requests share one chip at the same time. You could isolate — run one request per GPU — but you'd use 10% of a $40,000 card. The fix isn't isolation. It's observability. That's what this talk is about.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mental model for the whole talk. GPU is an apartment building. The batch is the elevator — everyone shares it. KV cache is the storage room — every tenant's stuff accumulates. When the storage room fills, someone gets evicted. Keep this picture — everything maps back to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LLM reply has two phases. Prefill reads your request — fast, once. Decode writes back one token at a time — slow, hundreds of times. Two numbers to know: TTFT is how long before the first word appears — that's the elevator wait. ITL is the gap between each word — that's how fast the elevator moves. [PAUSE] ITL is THE noisy neighbour signal. When Blake loads furniture in the elevator, ITL is what spikes.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your neighbours. Alex sends a quick question — 64 tokens, like a note under the door. Blake wants a 5-page capacity report — 4,000 tokens. They're in the same building, sharing the same elevator, sharing every single trip. Alex is about to have a bad morning.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tenant on a GPU — 10% utilized. You're paying for a building that's 90% empty. Batch 8 tenants — 65% utilized. Continuous batching checks after every elevator trip: someone got off? Fill the spot immediately. 36× more tenants served. [PAUSE] But now they all share every trip. Blake's renovation materials slow the elevator for everyone.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 cache is the storage room. Every token generated adds to the pile. Alex's 64 tokens — three small boxes, 8% of the room. Blake's 4,000 tokens — fills 79% of the room, about 4 gigabytes. When storage hits capacity, someone gets evicted. Their stuff goes to the basement — CPU memory or disk. When they get rescheduled, they must re-prefill from scratch. That's your mystery TTFT spike — it's not a new request, it's a re-registering tenant.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Alex feels. Alone: elevator wait 82ms, each floor 14ms, done in 210ms. With Blake: elevator wait 120ms, each floor 45ms — same 64 tokens, 2.3× slower, zero errors, zero timeouts. [PAUSE] ITL times tokens equals phantom latency. The elevator slowed down. Alex didn't change. The building did.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RED dashboard says: rate fine, errors zero, p99 is 1.8 seconds. Conclusion: slow tenants, build more buildings. [PAUSE] Wrong. That 1,800ms was 190 milliseconds of actual compute and 1,610 milliseconds of waiting. KV cache 94% full. 28 tenants in the batch. Blake generating 3,000 tokens. Alex got evicted twice. The tenant was fine. The building was noisy.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causes. Scheduling — people waiting in the lobby, real capacity limit, build more buildings. Memory — storage room full, evictions, cap the occupancy and enable shared storage. Neighbour — Blake's furniture in the elevator, route renovators to a different building. Your dashboard shows the complaint. These three tell you the actual cause.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architecture slide. Grafana is the security camera. Prometheus is the sensor network scraping every 15 seconds. Two sources: vLLM metrics for elevator speed, storage, lobby — that's the application layer. DCGM Exporter for power, temperature, structural load — that's the GPU hardware layer. Four components, all open-source.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pre-recorded baseline. Five Alexes, quiet Sunday morning. [Read each metric] TTFT 82 milliseconds. ITL 14 milliseconds. Storage 18%. Occupancy 5. Power 38%. Lobby zero. [PAUSE] Everything flat. Everything green. Remember these six numbers. I'm about to change three of them dramatically.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[Dramatic pause before revealing each metric] Three Blakes move in. TTFT — 5× slower. ITL — 3× slower. Storage jumps to 87 percent. Occupancy goes to 8. Power doubles to 74. [LONG PAUSE] And the lobby? Still zero. Nobody is waiting to get in. [PAUSE] This is not a building shortage. This is a noisy neighbour problem. The GPU isn't overloaded — it's sharing badly.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chain reaction in one picture. Blake moves in. Occupancy grows. Storage fills. Evictions start. ITL spikes. Alex goes from 210 to 482 milliseconds. [PAUSE] Your dashboard says: GPU at 74%, latency doubled, build more buildings. The real answer: cap the occupancy, send renovators to their own building. You don't need more buildings. You need fewer neighbours.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sensors. Take a photo — this is what you'll build Monday. [Point to each] TTFT: elevator wait. ITL — THE signal — elevator speed. KV cache: storage fullness, over 85% is danger. Prefix cache hit rate: are we re-reading mail we already read? Batch size: building occupancy. Tensor core: is the GPU actually working or just heating the room? ITL is number two and it's the one that changes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alarms. Storage over 90% for 2 minutes — evictions are imminent, cap occupancy now. TTFT over 2 seconds for 5 minutes — tenants are banging on the door, scale up or shed load. Lobby greater than zero for 3 minutes — this is a real capacity limit, time to build more. Three alarms. Not thirty. You can set these up in 20 minutes.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ways to tame Blake. [One] Cap occupancy at 16 — the default is 256, that's 256 tenants sharing one elevator, madness. Start at 16, watch ITL as you tune up. [Two] Separate building — route short and long requests to different GPU pools. [Three] Enable shared storage — prefix caching reuses KV cache for common system prompts, saves 30-50% memory. [Four] Scale on lobby count, not power usage. Lobby is a leading indicator. Power is lagging.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continuous batching actually work? PagedAttention. Before: you pre-reserved the full context length for every request — like reserving an entire storage unit for each tenant even if they only bring one box. 60 to 80 percent waste. After: vLLM allocates fixed-size blocks on demand, like virtual memory. Near-zero waste. This is what enables dynamic slot-filling. James Phoenix has an amazing interactive visualization of this at understandingdata.com — link is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advanced folks. The prefill phase is compute-bound — GPU loves it. The decode phase is memory-bound — GPU waits. Running both on the same device causes head-of-line blocking. Blake's massive prefill starves Alex's decode. The cutting-edge fix: separate worker pools. Prefill goes to dedicated GPUs. Decode goes to dedicated GPUs. TTFT stays fast. ITL stays stable. This is emerging in TensorRT-LLM and Sarathi-Serve. Watch this space.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Monday morning, six items. Install elevator sensors — expose vLLM metrics to Prometheus. Install power monitors — DCGM Exporter on your GPU nodes. Build the six-sensor dashboard from slide 16. Set the three alarms from slide 17. Cap occupancy at 16, watch ITL as you tune. Enable shared storage with prefix caching. Two to four hours of work. 50 to 70 percent p99 reduction on mixed workloads. That's the ROI of observing your neighbours.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deliberate delivery] Next time your LLM p99 spikes... don't ask which tenant is slow. [PAUSE] Ask: who else is in the building. [PAUSE] Thank you.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Everything's on GitHub — the slides, the demo infrastructure, the Grafana dashboard, the load generator. The links to James Phoenix's visualizations are there too — amazing interactive explainers for KV cache and prefill/decode. Find me on Twitter at @SaijUtekar.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Prepared answers — [1] TGI: yes, same dynamics, different metric names. [2] Multi-GPU / tensor parallelism: same problem, batch shared across all GPUs in the TP group. [3] How to route by length without knowing output in advance: estimate from prompt structure + historical data, 'write a detailed report' → long pool. [4] Can you just set max_num_seqs to 1: yes but throughput drops 10-20×, the goal is managing not disabling. [5] What model size matters: any model using continuous batching, more visible with larger models because KV per token is bigger.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1371600" y="914400"/>
            <a:ext cx="9448495" cy="5029200"/>
          </a:xfrm>
          <a:prstGeom prst="rect">
            <a:avLst/>
          </a:prstGeom>
          <a:noFill/>
        </p:spPr>
        <p:txBody>
          <a:bodyPr wrap="square">
            <a:spAutoFit/>
          </a:bodyPr>
          <a:lstStyle/>
          <a:p>
            <a:pPr algn="ctr">
              <a:defRPr sz="4800" b="1">
                <a:solidFill>
                  <a:srgbClr val="00D4FF"/>
                </a:solidFill>
                <a:latin typeface="Calibri"/>
              </a:defRPr>
            </a:pPr>
            <a:r>
              <a:t>The Noisy Neighbour</a:t>
            </a:r>
          </a:p>
          <a:p>
            <a:pPr algn="ctr">
              <a:spcBef>
                <a:spcPts val="0"/>
              </a:spcBef>
              <a:spcAft>
                <a:spcPts val="0"/>
              </a:spcAft>
              <a:defRPr sz="4800" b="1" i="0">
                <a:solidFill>
                  <a:srgbClr val="00D4FF"/>
                </a:solidFill>
                <a:latin typeface="Calibri"/>
              </a:defRPr>
            </a:pPr>
            <a:r>
              <a:t>Inside Your GPU</a:t>
            </a:r>
          </a:p>
          <a:p>
            <a:pPr algn="ctr">
              <a:spcBef>
                <a:spcPts val="1200"/>
              </a:spcBef>
              <a:spcAft>
                <a:spcPts val="0"/>
              </a:spcAft>
              <a:defRPr sz="2400" b="0" i="0">
                <a:solidFill>
                  <a:srgbClr val="E8E8E8"/>
                </a:solidFill>
                <a:latin typeface="Calibri"/>
              </a:defRPr>
            </a:pPr>
            <a:r>
              <a:t>Observing Batched LLM Inference</a:t>
            </a:r>
          </a:p>
          <a:p>
            <a:pPr algn="ctr">
              <a:spcBef>
                <a:spcPts val="0"/>
              </a:spcBef>
              <a:spcAft>
                <a:spcPts val="0"/>
              </a:spcAft>
              <a:defRPr sz="1600" b="0" i="0">
                <a:solidFill>
                  <a:srgbClr val="E8E8E8"/>
                </a:solidFill>
                <a:latin typeface="Calibri"/>
              </a:defRPr>
            </a:pPr>
          </a:p>
          <a:p>
            <a:pPr algn="ctr">
              <a:spcBef>
                <a:spcPts val="2400"/>
              </a:spcBef>
              <a:spcAft>
                <a:spcPts val="0"/>
              </a:spcAft>
              <a:defRPr sz="2200" b="0" i="0">
                <a:solidFill>
                  <a:srgbClr val="E8E8E8"/>
                </a:solidFill>
                <a:latin typeface="Calibri"/>
              </a:defRPr>
            </a:pPr>
            <a:r>
              <a:t>Sagar Utekar  ·  Senior SRE, CrowdStrike</a:t>
            </a:r>
          </a:p>
          <a:p>
            <a:pPr algn="ctr">
              <a:spcBef>
                <a:spcPts val="400"/>
              </a:spcBef>
              <a:spcAft>
                <a:spcPts val="0"/>
              </a:spcAft>
              <a:defRPr sz="1800" b="0" i="0">
                <a:solidFill>
                  <a:srgbClr val="E8E8E8"/>
                </a:solidFill>
                <a:latin typeface="Calibri"/>
              </a:defRPr>
            </a:pPr>
            <a:r>
              <a:t>CNCF Ambassador  ·  Kubestronaut</a:t>
            </a:r>
          </a:p>
          <a:p>
            <a:pPr algn="ctr">
              <a:spcBef>
                <a:spcPts val="2000"/>
              </a:spcBef>
              <a:spcAft>
                <a:spcPts val="0"/>
              </a:spcAft>
              <a:defRPr sz="2000" b="0" i="0">
                <a:solidFill>
                  <a:srgbClr val="FFB347"/>
                </a:solidFill>
                <a:latin typeface="Calibri"/>
              </a:defRPr>
            </a:pPr>
            <a:r>
              <a:t>Observability Summit Europe 2026</a:t>
            </a:r>
          </a:p>
          <a:p>
            <a:pPr algn="ctr">
              <a:spcBef>
                <a:spcPts val="800"/>
              </a:spcBef>
              <a:spcAft>
                <a:spcPts val="0"/>
              </a:spcAft>
              <a:defRPr sz="1400" b="0" i="0">
                <a:solidFill>
                  <a:srgbClr val="888888"/>
                </a:solidFill>
                <a:latin typeface="Calibri"/>
              </a:defRPr>
            </a:pPr>
            <a:r>
              <a:t>5 Oct  ·  10:30  ·  South Hall 3A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The Neighbour You Already Know</a:t>
            </a:r>
          </a:p>
        </p:txBody>
      </p:sp>
      <p:sp>
        <p:nvSpPr>
          <p:cNvPr id="3" name="Rounded Rectangle 2"/>
          <p:cNvSpPr/>
          <p:nvPr/>
        </p:nvSpPr>
        <p:spPr>
          <a:xfrm>
            <a:off x="457200" y="1188720"/>
            <a:ext cx="5394960" cy="3657600"/>
          </a:xfrm>
          <a:prstGeom prst="roundRect">
            <a:avLst/>
          </a:prstGeom>
          <a:solidFill>
            <a:srgbClr val="FF4444">
              <a:alpha val="20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FF4444"/>
                </a:solidFill>
                <a:latin typeface="Calibri"/>
              </a:defRPr>
            </a:pPr>
            <a:r>
              <a:t>🔥 The CPU Problem</a:t>
            </a:r>
          </a:p>
          <a:p>
            <a:pPr algn="l">
              <a:spcBef>
                <a:spcPts val="0"/>
              </a:spcBef>
              <a:spcAft>
                <a:spcPts val="0"/>
              </a:spcAft>
              <a:defRPr sz="600" b="0" i="0">
                <a:solidFill>
                  <a:srgbClr val="E8E8E8"/>
                </a:solidFill>
                <a:latin typeface="Calibri"/>
              </a:defRPr>
            </a:pPr>
          </a:p>
          <a:p>
            <a:pPr algn="l">
              <a:spcBef>
                <a:spcPts val="0"/>
              </a:spcBef>
              <a:spcAft>
                <a:spcPts val="0"/>
              </a:spcAft>
              <a:defRPr sz="2000" b="0" i="0">
                <a:solidFill>
                  <a:srgbClr val="E8E8E8"/>
                </a:solidFill>
                <a:latin typeface="Calibri"/>
              </a:defRPr>
            </a:pPr>
            <a:r>
              <a:t>Container B is a rogue batch job</a:t>
            </a:r>
          </a:p>
          <a:p>
            <a:pPr algn="l">
              <a:spcBef>
                <a:spcPts val="0"/>
              </a:spcBef>
              <a:spcAft>
                <a:spcPts val="0"/>
              </a:spcAft>
              <a:defRPr sz="2000" b="0" i="0">
                <a:solidFill>
                  <a:srgbClr val="E8E8E8"/>
                </a:solidFill>
                <a:latin typeface="Calibri"/>
              </a:defRPr>
            </a:pPr>
            <a:r>
              <a:t>Steals CPU from your app</a:t>
            </a:r>
          </a:p>
          <a:p>
            <a:pPr algn="l">
              <a:spcBef>
                <a:spcPts val="0"/>
              </a:spcBef>
              <a:spcAft>
                <a:spcPts val="0"/>
              </a:spcAft>
              <a:defRPr sz="2000" b="0" i="0">
                <a:solidFill>
                  <a:srgbClr val="E8E8E8"/>
                </a:solidFill>
                <a:latin typeface="Calibri"/>
              </a:defRPr>
            </a:pPr>
            <a:r>
              <a:t>Latency spikes. No errors.</a:t>
            </a:r>
          </a:p>
          <a:p>
            <a:pPr algn="l">
              <a:spcBef>
                <a:spcPts val="0"/>
              </a:spcBef>
              <a:spcAft>
                <a:spcPts val="0"/>
              </a:spcAft>
              <a:defRPr sz="800" b="0" i="0">
                <a:solidFill>
                  <a:srgbClr val="E8E8E8"/>
                </a:solidFill>
                <a:latin typeface="Calibri"/>
              </a:defRPr>
            </a:pPr>
          </a:p>
          <a:p>
            <a:pPr algn="l">
              <a:spcBef>
                <a:spcPts val="0"/>
              </a:spcBef>
              <a:spcAft>
                <a:spcPts val="0"/>
              </a:spcAft>
              <a:defRPr sz="1600" b="0" i="0">
                <a:solidFill>
                  <a:srgbClr val="39FF14"/>
                </a:solidFill>
                <a:latin typeface="Consolas"/>
              </a:defRPr>
            </a:pPr>
            <a:r>
              <a:t>container_cpu_cfs_throttled_seconds_total</a:t>
            </a:r>
          </a:p>
        </p:txBody>
      </p:sp>
      <p:sp>
        <p:nvSpPr>
          <p:cNvPr id="4" name="Rounded Rectangle 3"/>
          <p:cNvSpPr/>
          <p:nvPr/>
        </p:nvSpPr>
        <p:spPr>
          <a:xfrm>
            <a:off x="6309360" y="1188720"/>
            <a:ext cx="5394960" cy="3657600"/>
          </a:xfrm>
          <a:prstGeom prst="roundRect">
            <a:avLst/>
          </a:prstGeom>
          <a:solidFill>
            <a:srgbClr val="39FF14">
              <a:alpha val="20000"/>
            </a:srgbClr>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39FF14"/>
                </a:solidFill>
                <a:latin typeface="Calibri"/>
              </a:defRPr>
            </a:pPr>
            <a:r>
              <a:t>✅ How You Fixed It</a:t>
            </a:r>
          </a:p>
          <a:p>
            <a:pPr algn="l">
              <a:spcBef>
                <a:spcPts val="0"/>
              </a:spcBef>
              <a:spcAft>
                <a:spcPts val="0"/>
              </a:spcAft>
              <a:defRPr sz="600" b="0" i="0">
                <a:solidFill>
                  <a:srgbClr val="E8E8E8"/>
                </a:solidFill>
                <a:latin typeface="Calibri"/>
              </a:defRPr>
            </a:pPr>
          </a:p>
          <a:p>
            <a:pPr algn="l">
              <a:spcBef>
                <a:spcPts val="0"/>
              </a:spcBef>
              <a:spcAft>
                <a:spcPts val="0"/>
              </a:spcAft>
              <a:defRPr sz="2000" b="0" i="0">
                <a:solidFill>
                  <a:srgbClr val="E8E8E8"/>
                </a:solidFill>
                <a:latin typeface="Calibri"/>
              </a:defRPr>
            </a:pPr>
            <a:r>
              <a:t>cgroups → kernel isolation</a:t>
            </a:r>
          </a:p>
          <a:p>
            <a:pPr algn="l">
              <a:spcBef>
                <a:spcPts val="0"/>
              </a:spcBef>
              <a:spcAft>
                <a:spcPts val="0"/>
              </a:spcAft>
              <a:defRPr sz="2000" b="0" i="0">
                <a:solidFill>
                  <a:srgbClr val="E8E8E8"/>
                </a:solidFill>
                <a:latin typeface="Calibri"/>
              </a:defRPr>
            </a:pPr>
            <a:r>
              <a:t>Resource limits → cap the bully</a:t>
            </a:r>
          </a:p>
          <a:p>
            <a:pPr algn="l">
              <a:spcBef>
                <a:spcPts val="0"/>
              </a:spcBef>
              <a:spcAft>
                <a:spcPts val="0"/>
              </a:spcAft>
              <a:defRPr sz="2000" b="0" i="0">
                <a:solidFill>
                  <a:srgbClr val="E8E8E8"/>
                </a:solidFill>
                <a:latin typeface="Calibri"/>
              </a:defRPr>
            </a:pPr>
            <a:r>
              <a:t>Node pools → physical separation</a:t>
            </a:r>
          </a:p>
          <a:p>
            <a:pPr algn="l">
              <a:spcBef>
                <a:spcPts val="0"/>
              </a:spcBef>
              <a:spcAft>
                <a:spcPts val="0"/>
              </a:spcAft>
              <a:defRPr sz="2000" b="0" i="0">
                <a:solidFill>
                  <a:srgbClr val="E8E8E8"/>
                </a:solidFill>
                <a:latin typeface="Calibri"/>
              </a:defRPr>
            </a:pPr>
            <a:r>
              <a:t>Anti-affinity → scheduling rules</a:t>
            </a:r>
          </a:p>
        </p:txBody>
      </p:sp>
      <p:sp>
        <p:nvSpPr>
          <p:cNvPr id="5" name="TextBox 4"/>
          <p:cNvSpPr txBox="1"/>
          <p:nvPr/>
        </p:nvSpPr>
        <p:spPr>
          <a:xfrm>
            <a:off x="457200" y="5303520"/>
            <a:ext cx="11277295" cy="914400"/>
          </a:xfrm>
          <a:prstGeom prst="rect">
            <a:avLst/>
          </a:prstGeom>
          <a:noFill/>
        </p:spPr>
        <p:txBody>
          <a:bodyPr wrap="square">
            <a:spAutoFit/>
          </a:bodyPr>
          <a:lstStyle/>
          <a:p>
            <a:pPr algn="ctr">
              <a:defRPr sz="2200" b="1" i="0">
                <a:solidFill>
                  <a:srgbClr val="39FF14"/>
                </a:solidFill>
                <a:latin typeface="Calibri"/>
              </a:defRPr>
            </a:pPr>
            <a:r>
              <a:t>CPU noisy neighbours? Solved. You had soundproof walls.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FF4444"/>
                </a:solidFill>
                <a:latin typeface="Calibri"/>
              </a:defRPr>
            </a:pPr>
            <a:r>
              <a:t>Now Forget Everything</a:t>
            </a:r>
          </a:p>
        </p:txBody>
      </p:sp>
      <p:sp>
        <p:nvSpPr>
          <p:cNvPr id="3" name="TextBox 2"/>
          <p:cNvSpPr txBox="1"/>
          <p:nvPr/>
        </p:nvSpPr>
        <p:spPr>
          <a:xfrm>
            <a:off x="914400" y="1280160"/>
            <a:ext cx="4572000" cy="3200400"/>
          </a:xfrm>
          <a:prstGeom prst="rect">
            <a:avLst/>
          </a:prstGeom>
          <a:noFill/>
        </p:spPr>
        <p:txBody>
          <a:bodyPr wrap="square">
            <a:spAutoFit/>
          </a:bodyPr>
          <a:lstStyle/>
          <a:p>
            <a:pPr algn="l">
              <a:defRPr sz="2800" b="1" i="0">
                <a:solidFill>
                  <a:srgbClr val="39FF14"/>
                </a:solidFill>
                <a:latin typeface="Calibri"/>
              </a:defRPr>
            </a:pPr>
            <a:r>
              <a:t>CPU World 🏢</a:t>
            </a:r>
          </a:p>
          <a:p>
            <a:pPr algn="l">
              <a:spcBef>
                <a:spcPts val="1200"/>
              </a:spcBef>
              <a:spcAft>
                <a:spcPts val="0"/>
              </a:spcAft>
              <a:defRPr sz="2400" b="0" i="0">
                <a:solidFill>
                  <a:srgbClr val="39FF14"/>
                </a:solidFill>
                <a:latin typeface="Calibri"/>
              </a:defRPr>
            </a:pPr>
            <a:r>
              <a:t>✓ cgroups</a:t>
            </a:r>
          </a:p>
          <a:p>
            <a:pPr algn="l">
              <a:spcBef>
                <a:spcPts val="800"/>
              </a:spcBef>
              <a:spcAft>
                <a:spcPts val="0"/>
              </a:spcAft>
              <a:defRPr sz="2400" b="0" i="0">
                <a:solidFill>
                  <a:srgbClr val="39FF14"/>
                </a:solidFill>
                <a:latin typeface="Calibri"/>
              </a:defRPr>
            </a:pPr>
            <a:r>
              <a:t>✓ Resource limits</a:t>
            </a:r>
          </a:p>
          <a:p>
            <a:pPr algn="l">
              <a:spcBef>
                <a:spcPts val="800"/>
              </a:spcBef>
              <a:spcAft>
                <a:spcPts val="0"/>
              </a:spcAft>
              <a:defRPr sz="2400" b="0" i="0">
                <a:solidFill>
                  <a:srgbClr val="39FF14"/>
                </a:solidFill>
                <a:latin typeface="Calibri"/>
              </a:defRPr>
            </a:pPr>
            <a:r>
              <a:t>✓ 1 process = 1 core</a:t>
            </a:r>
          </a:p>
          <a:p>
            <a:pPr algn="l">
              <a:spcBef>
                <a:spcPts val="800"/>
              </a:spcBef>
              <a:spcAft>
                <a:spcPts val="0"/>
              </a:spcAft>
              <a:defRPr sz="2400" b="0" i="0">
                <a:solidFill>
                  <a:srgbClr val="39FF14"/>
                </a:solidFill>
                <a:latin typeface="Calibri"/>
              </a:defRPr>
            </a:pPr>
            <a:r>
              <a:t>✓ Isolation is cheap</a:t>
            </a:r>
          </a:p>
        </p:txBody>
      </p:sp>
      <p:sp>
        <p:nvSpPr>
          <p:cNvPr id="4" name="TextBox 3"/>
          <p:cNvSpPr txBox="1"/>
          <p:nvPr/>
        </p:nvSpPr>
        <p:spPr>
          <a:xfrm>
            <a:off x="6705295" y="1280160"/>
            <a:ext cx="4572000" cy="3200400"/>
          </a:xfrm>
          <a:prstGeom prst="rect">
            <a:avLst/>
          </a:prstGeom>
          <a:noFill/>
        </p:spPr>
        <p:txBody>
          <a:bodyPr wrap="square">
            <a:spAutoFit/>
          </a:bodyPr>
          <a:lstStyle/>
          <a:p>
            <a:pPr algn="l">
              <a:defRPr sz="2800" b="1" i="0">
                <a:solidFill>
                  <a:srgbClr val="FF4444"/>
                </a:solidFill>
                <a:latin typeface="Calibri"/>
              </a:defRPr>
            </a:pPr>
            <a:r>
              <a:t>GPU World 🏚️</a:t>
            </a:r>
          </a:p>
          <a:p>
            <a:pPr algn="l">
              <a:spcBef>
                <a:spcPts val="1200"/>
              </a:spcBef>
              <a:spcAft>
                <a:spcPts val="0"/>
              </a:spcAft>
              <a:defRPr sz="2400" b="0" i="0">
                <a:solidFill>
                  <a:srgbClr val="FF4444"/>
                </a:solidFill>
                <a:latin typeface="Calibri"/>
              </a:defRPr>
            </a:pPr>
            <a:r>
              <a:t>✗ No cgroups</a:t>
            </a:r>
          </a:p>
          <a:p>
            <a:pPr algn="l">
              <a:spcBef>
                <a:spcPts val="800"/>
              </a:spcBef>
              <a:spcAft>
                <a:spcPts val="0"/>
              </a:spcAft>
              <a:defRPr sz="2400" b="0" i="0">
                <a:solidFill>
                  <a:srgbClr val="FF4444"/>
                </a:solidFill>
                <a:latin typeface="Calibri"/>
              </a:defRPr>
            </a:pPr>
            <a:r>
              <a:t>✗ No per-request limits</a:t>
            </a:r>
          </a:p>
          <a:p>
            <a:pPr algn="l">
              <a:spcBef>
                <a:spcPts val="800"/>
              </a:spcBef>
              <a:spcAft>
                <a:spcPts val="0"/>
              </a:spcAft>
              <a:defRPr sz="2400" b="0" i="0">
                <a:solidFill>
                  <a:srgbClr val="FF4444"/>
                </a:solidFill>
                <a:latin typeface="Calibri"/>
              </a:defRPr>
            </a:pPr>
            <a:r>
              <a:t>✗ 32 requests = 1 chip</a:t>
            </a:r>
          </a:p>
          <a:p>
            <a:pPr algn="l">
              <a:spcBef>
                <a:spcPts val="800"/>
              </a:spcBef>
              <a:spcAft>
                <a:spcPts val="0"/>
              </a:spcAft>
              <a:defRPr sz="2400" b="0" i="0">
                <a:solidFill>
                  <a:srgbClr val="FF4444"/>
                </a:solidFill>
                <a:latin typeface="Calibri"/>
              </a:defRPr>
            </a:pPr>
            <a:r>
              <a:t>✗ Isolation kills throughput</a:t>
            </a:r>
          </a:p>
        </p:txBody>
      </p:sp>
      <p:sp>
        <p:nvSpPr>
          <p:cNvPr id="5" name="Rounded Rectangle 4"/>
          <p:cNvSpPr/>
          <p:nvPr/>
        </p:nvSpPr>
        <p:spPr>
          <a:xfrm>
            <a:off x="457200" y="4754880"/>
            <a:ext cx="11277295" cy="1645920"/>
          </a:xfrm>
          <a:prstGeom prst="roundRect">
            <a:avLst/>
          </a:prstGeom>
          <a:solidFill>
            <a:srgbClr val="FF4444">
              <a:alpha val="15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E8E8E8"/>
                </a:solidFill>
                <a:latin typeface="Calibri"/>
              </a:defRPr>
            </a:pPr>
            <a:r>
              <a:t>On a GPU, requests MUST share the chip. The walls are paper-thin.</a:t>
            </a:r>
          </a:p>
          <a:p>
            <a:pPr algn="ctr">
              <a:spcBef>
                <a:spcPts val="800"/>
              </a:spcBef>
              <a:spcAft>
                <a:spcPts val="0"/>
              </a:spcAft>
              <a:defRPr sz="2200" b="0" i="0">
                <a:solidFill>
                  <a:srgbClr val="FFB347"/>
                </a:solidFill>
                <a:latin typeface="Calibri"/>
              </a:defRPr>
            </a:pPr>
            <a:r>
              <a:t>The fix isn't soundproofing — it's installing noise monitors.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The Apartment Building</a:t>
            </a:r>
          </a:p>
        </p:txBody>
      </p:sp>
      <p:sp>
        <p:nvSpPr>
          <p:cNvPr id="3" name="TextBox 2"/>
          <p:cNvSpPr txBox="1"/>
          <p:nvPr/>
        </p:nvSpPr>
        <p:spPr>
          <a:xfrm>
            <a:off x="914400" y="1371600"/>
            <a:ext cx="10058400" cy="640080"/>
          </a:xfrm>
          <a:prstGeom prst="rect">
            <a:avLst/>
          </a:prstGeom>
          <a:noFill/>
        </p:spPr>
        <p:txBody>
          <a:bodyPr wrap="square">
            <a:spAutoFit/>
          </a:bodyPr>
          <a:lstStyle/>
          <a:p>
            <a:r>
              <a:rPr sz="2800" b="1">
                <a:solidFill>
                  <a:srgbClr val="00D4FF"/>
                </a:solidFill>
                <a:latin typeface="Calibri"/>
              </a:rPr>
              <a:t>🏢  GPU = The Building</a:t>
            </a:r>
            <a:r>
              <a:rPr sz="1800">
                <a:solidFill>
                  <a:srgbClr val="E8E8E8"/>
                </a:solidFill>
                <a:latin typeface="Calibri"/>
              </a:rPr>
              <a:t>  (the whole chip)</a:t>
            </a:r>
          </a:p>
        </p:txBody>
      </p:sp>
      <p:sp>
        <p:nvSpPr>
          <p:cNvPr id="4" name="TextBox 3"/>
          <p:cNvSpPr txBox="1"/>
          <p:nvPr/>
        </p:nvSpPr>
        <p:spPr>
          <a:xfrm>
            <a:off x="914400" y="2148840"/>
            <a:ext cx="10058400" cy="640080"/>
          </a:xfrm>
          <a:prstGeom prst="rect">
            <a:avLst/>
          </a:prstGeom>
          <a:noFill/>
        </p:spPr>
        <p:txBody>
          <a:bodyPr wrap="square">
            <a:spAutoFit/>
          </a:bodyPr>
          <a:lstStyle/>
          <a:p>
            <a:r>
              <a:rPr sz="2800" b="1">
                <a:solidFill>
                  <a:srgbClr val="B877D9"/>
                </a:solidFill>
                <a:latin typeface="Calibri"/>
              </a:rPr>
              <a:t>🛗  Batch = The Elevator</a:t>
            </a:r>
            <a:r>
              <a:rPr sz="1800">
                <a:solidFill>
                  <a:srgbClr val="E8E8E8"/>
                </a:solidFill>
                <a:latin typeface="Calibri"/>
              </a:rPr>
              <a:t>  (shared — one trip serves everyone)</a:t>
            </a:r>
          </a:p>
        </p:txBody>
      </p:sp>
      <p:sp>
        <p:nvSpPr>
          <p:cNvPr id="5" name="TextBox 4"/>
          <p:cNvSpPr txBox="1"/>
          <p:nvPr/>
        </p:nvSpPr>
        <p:spPr>
          <a:xfrm>
            <a:off x="914400" y="2926080"/>
            <a:ext cx="10058400" cy="640080"/>
          </a:xfrm>
          <a:prstGeom prst="rect">
            <a:avLst/>
          </a:prstGeom>
          <a:noFill/>
        </p:spPr>
        <p:txBody>
          <a:bodyPr wrap="square">
            <a:spAutoFit/>
          </a:bodyPr>
          <a:lstStyle/>
          <a:p>
            <a:r>
              <a:rPr sz="2800" b="1">
                <a:solidFill>
                  <a:srgbClr val="FFB347"/>
                </a:solidFill>
                <a:latin typeface="Calibri"/>
              </a:rPr>
              <a:t>🧳  KV Cache = The Storage Room</a:t>
            </a:r>
            <a:r>
              <a:rPr sz="1800">
                <a:solidFill>
                  <a:srgbClr val="E8E8E8"/>
                </a:solidFill>
                <a:latin typeface="Calibri"/>
              </a:rPr>
              <a:t>  (everyone's stuff piles up)</a:t>
            </a:r>
          </a:p>
        </p:txBody>
      </p:sp>
      <p:sp>
        <p:nvSpPr>
          <p:cNvPr id="6" name="TextBox 5"/>
          <p:cNvSpPr txBox="1"/>
          <p:nvPr/>
        </p:nvSpPr>
        <p:spPr>
          <a:xfrm>
            <a:off x="914400" y="3703320"/>
            <a:ext cx="10058400" cy="640080"/>
          </a:xfrm>
          <a:prstGeom prst="rect">
            <a:avLst/>
          </a:prstGeom>
          <a:noFill/>
        </p:spPr>
        <p:txBody>
          <a:bodyPr wrap="square">
            <a:spAutoFit/>
          </a:bodyPr>
          <a:lstStyle/>
          <a:p>
            <a:r>
              <a:rPr sz="2800" b="1">
                <a:solidFill>
                  <a:srgbClr val="E8E8E8"/>
                </a:solidFill>
                <a:latin typeface="Calibri"/>
              </a:rPr>
              <a:t>👤  Requests = Tenants</a:t>
            </a:r>
            <a:r>
              <a:rPr sz="1800">
                <a:solidFill>
                  <a:srgbClr val="E8E8E8"/>
                </a:solidFill>
                <a:latin typeface="Calibri"/>
              </a:rPr>
              <a:t>  (some quick, some... not)</a:t>
            </a:r>
          </a:p>
        </p:txBody>
      </p:sp>
      <p:sp>
        <p:nvSpPr>
          <p:cNvPr id="7" name="TextBox 6"/>
          <p:cNvSpPr txBox="1"/>
          <p:nvPr/>
        </p:nvSpPr>
        <p:spPr>
          <a:xfrm>
            <a:off x="914400" y="4480560"/>
            <a:ext cx="10058400" cy="640080"/>
          </a:xfrm>
          <a:prstGeom prst="rect">
            <a:avLst/>
          </a:prstGeom>
          <a:noFill/>
        </p:spPr>
        <p:txBody>
          <a:bodyPr wrap="square">
            <a:spAutoFit/>
          </a:bodyPr>
          <a:lstStyle/>
          <a:p>
            <a:r>
              <a:rPr sz="2800" b="1">
                <a:solidFill>
                  <a:srgbClr val="FF4444"/>
                </a:solidFill>
                <a:latin typeface="Calibri"/>
              </a:rPr>
              <a:t>📦  Preemption = Eviction</a:t>
            </a:r>
            <a:r>
              <a:rPr sz="1800">
                <a:solidFill>
                  <a:srgbClr val="E8E8E8"/>
                </a:solidFill>
                <a:latin typeface="Calibri"/>
              </a:rPr>
              <a:t>  (your stuff moved to the basement)</a:t>
            </a:r>
          </a:p>
        </p:txBody>
      </p:sp>
      <p:sp>
        <p:nvSpPr>
          <p:cNvPr id="8" name="Rounded Rectangle 7"/>
          <p:cNvSpPr/>
          <p:nvPr/>
        </p:nvSpPr>
        <p:spPr>
          <a:xfrm>
            <a:off x="914400" y="5394960"/>
            <a:ext cx="10362895" cy="73152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0">
                <a:solidFill>
                  <a:srgbClr val="39FF14"/>
                </a:solidFill>
                <a:latin typeface="Calibri"/>
              </a:defRPr>
            </a:pPr>
            <a:r>
              <a:t>Keep this picture. Every slide from here maps back to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Two Phases, Two Numbers</a:t>
            </a:r>
          </a:p>
        </p:txBody>
      </p:sp>
      <p:sp>
        <p:nvSpPr>
          <p:cNvPr id="3" name="Rounded Rectangle 2"/>
          <p:cNvSpPr/>
          <p:nvPr/>
        </p:nvSpPr>
        <p:spPr>
          <a:xfrm>
            <a:off x="457200" y="1188720"/>
            <a:ext cx="5394960" cy="1828800"/>
          </a:xfrm>
          <a:prstGeom prst="roundRect">
            <a:avLst/>
          </a:prstGeom>
          <a:solidFill>
            <a:srgbClr val="00D4FF">
              <a:alpha val="15000"/>
            </a:srgbClr>
          </a:solid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00D4FF"/>
                </a:solidFill>
                <a:latin typeface="Calibri"/>
              </a:defRPr>
            </a:pPr>
            <a:r>
              <a:t>PREFILL</a:t>
            </a:r>
          </a:p>
          <a:p>
            <a:pPr algn="ctr">
              <a:spcBef>
                <a:spcPts val="800"/>
              </a:spcBef>
              <a:spcAft>
                <a:spcPts val="0"/>
              </a:spcAft>
              <a:defRPr sz="2000" b="0" i="0">
                <a:solidFill>
                  <a:srgbClr val="E8E8E8"/>
                </a:solidFill>
                <a:latin typeface="Calibri"/>
              </a:defRPr>
            </a:pPr>
            <a:r>
              <a:t>Read the request. Once.</a:t>
            </a:r>
          </a:p>
          <a:p>
            <a:pPr algn="ctr">
              <a:spcBef>
                <a:spcPts val="400"/>
              </a:spcBef>
              <a:spcAft>
                <a:spcPts val="0"/>
              </a:spcAft>
              <a:defRPr sz="1800" b="0" i="0">
                <a:solidFill>
                  <a:srgbClr val="E8E8E8"/>
                </a:solidFill>
                <a:latin typeface="Calibri"/>
              </a:defRPr>
            </a:pPr>
            <a:r>
              <a:t>Compute-bound — GPU loves this</a:t>
            </a:r>
          </a:p>
        </p:txBody>
      </p:sp>
      <p:sp>
        <p:nvSpPr>
          <p:cNvPr id="4" name="Rounded Rectangle 3"/>
          <p:cNvSpPr/>
          <p:nvPr/>
        </p:nvSpPr>
        <p:spPr>
          <a:xfrm>
            <a:off x="6309360" y="1188720"/>
            <a:ext cx="5394960" cy="1828800"/>
          </a:xfrm>
          <a:prstGeom prst="roundRect">
            <a:avLst/>
          </a:prstGeom>
          <a:solidFill>
            <a:srgbClr val="B877D9">
              <a:alpha val="15000"/>
            </a:srgbClr>
          </a:solidFill>
          <a:ln w="25400">
            <a:solidFill>
              <a:srgbClr val="B877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B877D9"/>
                </a:solidFill>
                <a:latin typeface="Calibri"/>
              </a:defRPr>
            </a:pPr>
            <a:r>
              <a:t>DECODE</a:t>
            </a:r>
          </a:p>
          <a:p>
            <a:pPr algn="ctr">
              <a:spcBef>
                <a:spcPts val="800"/>
              </a:spcBef>
              <a:spcAft>
                <a:spcPts val="0"/>
              </a:spcAft>
              <a:defRPr sz="2000" b="0" i="0">
                <a:solidFill>
                  <a:srgbClr val="E8E8E8"/>
                </a:solidFill>
                <a:latin typeface="Calibri"/>
              </a:defRPr>
            </a:pPr>
            <a:r>
              <a:t>Write back, one token at a time.</a:t>
            </a:r>
          </a:p>
          <a:p>
            <a:pPr algn="ctr">
              <a:spcBef>
                <a:spcPts val="400"/>
              </a:spcBef>
              <a:spcAft>
                <a:spcPts val="0"/>
              </a:spcAft>
              <a:defRPr sz="1800" b="0" i="0">
                <a:solidFill>
                  <a:srgbClr val="E8E8E8"/>
                </a:solidFill>
                <a:latin typeface="Calibri"/>
              </a:defRPr>
            </a:pPr>
            <a:r>
              <a:t>Memory-bound — GPU waits</a:t>
            </a:r>
          </a:p>
        </p:txBody>
      </p:sp>
      <p:sp>
        <p:nvSpPr>
          <p:cNvPr id="5" name="Rounded Rectangle 4"/>
          <p:cNvSpPr/>
          <p:nvPr/>
        </p:nvSpPr>
        <p:spPr>
          <a:xfrm>
            <a:off x="457200" y="3566160"/>
            <a:ext cx="5394960" cy="2560320"/>
          </a:xfrm>
          <a:prstGeom prst="roundRect">
            <a:avLst/>
          </a:prstGeom>
          <a:no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800" b="1">
                <a:solidFill>
                  <a:srgbClr val="00D4FF"/>
                </a:solidFill>
                <a:latin typeface="Calibri"/>
              </a:defRPr>
            </a:pPr>
            <a:r>
              <a:t>TTFT</a:t>
            </a:r>
          </a:p>
          <a:p>
            <a:pPr algn="ctr">
              <a:spcBef>
                <a:spcPts val="800"/>
              </a:spcBef>
              <a:spcAft>
                <a:spcPts val="0"/>
              </a:spcAft>
              <a:defRPr sz="1800" b="0" i="0">
                <a:solidFill>
                  <a:srgbClr val="E8E8E8"/>
                </a:solidFill>
                <a:latin typeface="Calibri"/>
              </a:defRPr>
            </a:pPr>
            <a:r>
              <a:t>Time to First Token</a:t>
            </a:r>
          </a:p>
          <a:p>
            <a:pPr algn="ctr">
              <a:spcBef>
                <a:spcPts val="800"/>
              </a:spcBef>
              <a:spcAft>
                <a:spcPts val="0"/>
              </a:spcAft>
              <a:defRPr sz="1600" b="0" i="0">
                <a:solidFill>
                  <a:srgbClr val="00D4FF"/>
                </a:solidFill>
                <a:latin typeface="Calibri"/>
              </a:defRPr>
            </a:pPr>
            <a:r>
              <a:t>= elevator wait time</a:t>
            </a:r>
          </a:p>
        </p:txBody>
      </p:sp>
      <p:sp>
        <p:nvSpPr>
          <p:cNvPr id="6" name="Rounded Rectangle 5"/>
          <p:cNvSpPr/>
          <p:nvPr/>
        </p:nvSpPr>
        <p:spPr>
          <a:xfrm>
            <a:off x="6309360" y="3566160"/>
            <a:ext cx="5394960" cy="2560320"/>
          </a:xfrm>
          <a:prstGeom prst="roundRect">
            <a:avLst/>
          </a:prstGeom>
          <a:noFill/>
          <a:ln w="254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800" b="1">
                <a:solidFill>
                  <a:srgbClr val="FFB347"/>
                </a:solidFill>
                <a:latin typeface="Calibri"/>
              </a:defRPr>
            </a:pPr>
            <a:r>
              <a:t>ITL</a:t>
            </a:r>
          </a:p>
          <a:p>
            <a:pPr algn="ctr">
              <a:spcBef>
                <a:spcPts val="800"/>
              </a:spcBef>
              <a:spcAft>
                <a:spcPts val="0"/>
              </a:spcAft>
              <a:defRPr sz="1800" b="0" i="0">
                <a:solidFill>
                  <a:srgbClr val="E8E8E8"/>
                </a:solidFill>
                <a:latin typeface="Calibri"/>
              </a:defRPr>
            </a:pPr>
            <a:r>
              <a:t>Inter-Token Latency</a:t>
            </a:r>
          </a:p>
          <a:p>
            <a:pPr algn="ctr">
              <a:spcBef>
                <a:spcPts val="800"/>
              </a:spcBef>
              <a:spcAft>
                <a:spcPts val="0"/>
              </a:spcAft>
              <a:defRPr sz="1600" b="0" i="0">
                <a:solidFill>
                  <a:srgbClr val="FFB347"/>
                </a:solidFill>
                <a:latin typeface="Calibri"/>
              </a:defRPr>
            </a:pPr>
            <a:r>
              <a:t>= elevator speed ← THE SIGNAL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Meet Your Neighbours</a:t>
            </a:r>
          </a:p>
        </p:txBody>
      </p:sp>
      <p:sp>
        <p:nvSpPr>
          <p:cNvPr id="3" name="Rounded Rectangle 2"/>
          <p:cNvSpPr/>
          <p:nvPr/>
        </p:nvSpPr>
        <p:spPr>
          <a:xfrm>
            <a:off x="457200" y="1188720"/>
            <a:ext cx="5394960" cy="5029200"/>
          </a:xfrm>
          <a:prstGeom prst="roundRect">
            <a:avLst/>
          </a:prstGeom>
          <a:noFill/>
          <a:ln w="381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00D4FF"/>
                </a:solidFill>
                <a:latin typeface="Calibri"/>
              </a:defRPr>
            </a:pPr>
            <a:r>
              <a:t>ALEX</a:t>
            </a:r>
          </a:p>
          <a:p>
            <a:pPr algn="ctr">
              <a:spcBef>
                <a:spcPts val="400"/>
              </a:spcBef>
              <a:spcAft>
                <a:spcPts val="0"/>
              </a:spcAft>
              <a:defRPr sz="2000" b="0" i="0">
                <a:solidFill>
                  <a:srgbClr val="E8E8E8"/>
                </a:solidFill>
                <a:latin typeface="Calibri"/>
              </a:defRPr>
            </a:pPr>
            <a:r>
              <a:t>The Quiet Tenant</a:t>
            </a:r>
          </a:p>
          <a:p>
            <a:pPr algn="l">
              <a:spcBef>
                <a:spcPts val="0"/>
              </a:spcBef>
              <a:spcAft>
                <a:spcPts val="0"/>
              </a:spcAft>
              <a:defRPr sz="1000" b="0" i="0">
                <a:solidFill>
                  <a:srgbClr val="E8E8E8"/>
                </a:solidFill>
                <a:latin typeface="Calibri"/>
              </a:defRPr>
            </a:pPr>
          </a:p>
          <a:p>
            <a:pPr algn="l">
              <a:spcBef>
                <a:spcPts val="800"/>
              </a:spcBef>
              <a:spcAft>
                <a:spcPts val="0"/>
              </a:spcAft>
              <a:defRPr sz="2000" b="0" i="0">
                <a:solidFill>
                  <a:srgbClr val="E8E8E8"/>
                </a:solidFill>
                <a:latin typeface="Calibri"/>
              </a:defRPr>
            </a:pPr>
            <a:r>
              <a:t>💬  'Summarise this Jira ticket'</a:t>
            </a:r>
          </a:p>
          <a:p>
            <a:pPr algn="l">
              <a:spcBef>
                <a:spcPts val="800"/>
              </a:spcBef>
              <a:spcAft>
                <a:spcPts val="0"/>
              </a:spcAft>
              <a:defRPr sz="2000" b="0" i="0">
                <a:solidFill>
                  <a:srgbClr val="E8E8E8"/>
                </a:solidFill>
                <a:latin typeface="Calibri"/>
              </a:defRPr>
            </a:pPr>
            <a:r>
              <a:t>📏  64 tokens — a quick note</a:t>
            </a:r>
          </a:p>
          <a:p>
            <a:pPr algn="l">
              <a:spcBef>
                <a:spcPts val="800"/>
              </a:spcBef>
              <a:spcAft>
                <a:spcPts val="0"/>
              </a:spcAft>
              <a:defRPr sz="2000" b="0" i="0">
                <a:solidFill>
                  <a:srgbClr val="E8E8E8"/>
                </a:solidFill>
                <a:latin typeface="Calibri"/>
              </a:defRPr>
            </a:pPr>
            <a:r>
              <a:t>⚡  In and out in minutes</a:t>
            </a:r>
          </a:p>
        </p:txBody>
      </p:sp>
      <p:sp>
        <p:nvSpPr>
          <p:cNvPr id="4" name="Rounded Rectangle 3"/>
          <p:cNvSpPr/>
          <p:nvPr/>
        </p:nvSpPr>
        <p:spPr>
          <a:xfrm>
            <a:off x="731520" y="5029200"/>
            <a:ext cx="4846320" cy="640080"/>
          </a:xfrm>
          <a:prstGeom prst="roundRect">
            <a:avLst/>
          </a:prstGeom>
          <a:solidFill>
            <a:srgbClr val="00D4F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8E8E8"/>
                </a:solidFill>
                <a:latin typeface="Calibri"/>
              </a:defRPr>
            </a:pPr>
            <a:r>
              <a:t>Alex will file the noise complaint.</a:t>
            </a:r>
          </a:p>
        </p:txBody>
      </p:sp>
      <p:sp>
        <p:nvSpPr>
          <p:cNvPr id="5" name="Rounded Rectangle 4"/>
          <p:cNvSpPr/>
          <p:nvPr/>
        </p:nvSpPr>
        <p:spPr>
          <a:xfrm>
            <a:off x="6309360" y="1188720"/>
            <a:ext cx="5394960" cy="5029200"/>
          </a:xfrm>
          <a:prstGeom prst="roundRect">
            <a:avLst/>
          </a:prstGeom>
          <a:noFill/>
          <a:ln w="381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b="1">
                <a:solidFill>
                  <a:srgbClr val="FF4444"/>
                </a:solidFill>
                <a:latin typeface="Calibri"/>
              </a:defRPr>
            </a:pPr>
            <a:r>
              <a:t>BLAKE</a:t>
            </a:r>
          </a:p>
          <a:p>
            <a:pPr algn="ctr">
              <a:spcBef>
                <a:spcPts val="400"/>
              </a:spcBef>
              <a:spcAft>
                <a:spcPts val="0"/>
              </a:spcAft>
              <a:defRPr sz="2000" b="0" i="0">
                <a:solidFill>
                  <a:srgbClr val="E8E8E8"/>
                </a:solidFill>
                <a:latin typeface="Calibri"/>
              </a:defRPr>
            </a:pPr>
            <a:r>
              <a:t>The Renovator</a:t>
            </a:r>
          </a:p>
          <a:p>
            <a:pPr algn="l">
              <a:spcBef>
                <a:spcPts val="0"/>
              </a:spcBef>
              <a:spcAft>
                <a:spcPts val="0"/>
              </a:spcAft>
              <a:defRPr sz="1000" b="0" i="0">
                <a:solidFill>
                  <a:srgbClr val="E8E8E8"/>
                </a:solidFill>
                <a:latin typeface="Calibri"/>
              </a:defRPr>
            </a:pPr>
          </a:p>
          <a:p>
            <a:pPr algn="l">
              <a:spcBef>
                <a:spcPts val="800"/>
              </a:spcBef>
              <a:spcAft>
                <a:spcPts val="0"/>
              </a:spcAft>
              <a:defRPr sz="2000" b="0" i="0">
                <a:solidFill>
                  <a:srgbClr val="E8E8E8"/>
                </a:solidFill>
                <a:latin typeface="Calibri"/>
              </a:defRPr>
            </a:pPr>
            <a:r>
              <a:t>📊  'Write a capacity report'</a:t>
            </a:r>
          </a:p>
          <a:p>
            <a:pPr algn="l">
              <a:spcBef>
                <a:spcPts val="800"/>
              </a:spcBef>
              <a:spcAft>
                <a:spcPts val="0"/>
              </a:spcAft>
              <a:defRPr sz="2000" b="0" i="0">
                <a:solidFill>
                  <a:srgbClr val="E8E8E8"/>
                </a:solidFill>
                <a:latin typeface="Calibri"/>
              </a:defRPr>
            </a:pPr>
            <a:r>
              <a:t>📏  4,000 tokens — a 5-page plan</a:t>
            </a:r>
          </a:p>
          <a:p>
            <a:pPr algn="l">
              <a:spcBef>
                <a:spcPts val="800"/>
              </a:spcBef>
              <a:spcAft>
                <a:spcPts val="0"/>
              </a:spcAft>
              <a:defRPr sz="2000" b="0" i="0">
                <a:solidFill>
                  <a:srgbClr val="E8E8E8"/>
                </a:solidFill>
                <a:latin typeface="Calibri"/>
              </a:defRPr>
            </a:pPr>
            <a:r>
              <a:t>🔨  Same building, same elevator</a:t>
            </a:r>
          </a:p>
        </p:txBody>
      </p:sp>
      <p:sp>
        <p:nvSpPr>
          <p:cNvPr id="6" name="Rounded Rectangle 5"/>
          <p:cNvSpPr/>
          <p:nvPr/>
        </p:nvSpPr>
        <p:spPr>
          <a:xfrm>
            <a:off x="6583680" y="5029200"/>
            <a:ext cx="4846320" cy="640080"/>
          </a:xfrm>
          <a:prstGeom prst="roundRect">
            <a:avLst/>
          </a:prstGeom>
          <a:solidFill>
            <a:srgbClr val="FF4444">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8E8E8"/>
                </a:solidFill>
                <a:latin typeface="Calibri"/>
              </a:defRPr>
            </a:pPr>
            <a:r>
              <a:t>Blake is about to ruin Alex's morning.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Why Everyone Shares the Elevator</a:t>
            </a:r>
          </a:p>
        </p:txBody>
      </p:sp>
      <p:sp>
        <p:nvSpPr>
          <p:cNvPr id="3" name="TextBox 2"/>
          <p:cNvSpPr txBox="1"/>
          <p:nvPr/>
        </p:nvSpPr>
        <p:spPr>
          <a:xfrm>
            <a:off x="457200" y="1371600"/>
            <a:ext cx="5394960" cy="3200400"/>
          </a:xfrm>
          <a:prstGeom prst="rect">
            <a:avLst/>
          </a:prstGeom>
          <a:noFill/>
        </p:spPr>
        <p:txBody>
          <a:bodyPr wrap="square">
            <a:spAutoFit/>
          </a:bodyPr>
          <a:lstStyle/>
          <a:p>
            <a:pPr algn="ctr">
              <a:defRPr sz="2200" b="0" i="0">
                <a:solidFill>
                  <a:srgbClr val="FF4444"/>
                </a:solidFill>
                <a:latin typeface="Calibri"/>
              </a:defRPr>
            </a:pPr>
            <a:r>
              <a:t>1 tenant</a:t>
            </a:r>
          </a:p>
          <a:p>
            <a:pPr algn="ctr">
              <a:spcBef>
                <a:spcPts val="800"/>
              </a:spcBef>
              <a:spcAft>
                <a:spcPts val="0"/>
              </a:spcAft>
              <a:defRPr sz="6000" b="1" i="0">
                <a:solidFill>
                  <a:srgbClr val="FF4444"/>
                </a:solidFill>
                <a:latin typeface="Calibri"/>
              </a:defRPr>
            </a:pPr>
            <a:r>
              <a:t>10%</a:t>
            </a:r>
          </a:p>
          <a:p>
            <a:pPr algn="ctr">
              <a:spcBef>
                <a:spcPts val="0"/>
              </a:spcBef>
              <a:spcAft>
                <a:spcPts val="0"/>
              </a:spcAft>
              <a:defRPr sz="1800" b="0" i="0">
                <a:solidFill>
                  <a:srgbClr val="E8E8E8"/>
                </a:solidFill>
                <a:latin typeface="Calibri"/>
              </a:defRPr>
            </a:pPr>
            <a:r>
              <a:t>GPU utilization</a:t>
            </a:r>
          </a:p>
          <a:p>
            <a:pPr algn="ctr">
              <a:spcBef>
                <a:spcPts val="800"/>
              </a:spcBef>
              <a:spcAft>
                <a:spcPts val="0"/>
              </a:spcAft>
              <a:defRPr sz="1800" b="0" i="0">
                <a:solidFill>
                  <a:srgbClr val="FF4444"/>
                </a:solidFill>
                <a:latin typeface="Calibri"/>
              </a:defRPr>
            </a:pPr>
            <a:r>
              <a:t>You pay for 100% of the building.</a:t>
            </a:r>
          </a:p>
        </p:txBody>
      </p:sp>
      <p:sp>
        <p:nvSpPr>
          <p:cNvPr id="4" name="TextBox 3"/>
          <p:cNvSpPr txBox="1"/>
          <p:nvPr/>
        </p:nvSpPr>
        <p:spPr>
          <a:xfrm>
            <a:off x="6309360" y="1371600"/>
            <a:ext cx="5394960" cy="3200400"/>
          </a:xfrm>
          <a:prstGeom prst="rect">
            <a:avLst/>
          </a:prstGeom>
          <a:noFill/>
        </p:spPr>
        <p:txBody>
          <a:bodyPr wrap="square">
            <a:spAutoFit/>
          </a:bodyPr>
          <a:lstStyle/>
          <a:p>
            <a:pPr algn="ctr">
              <a:defRPr sz="2200" b="0" i="0">
                <a:solidFill>
                  <a:srgbClr val="39FF14"/>
                </a:solidFill>
                <a:latin typeface="Calibri"/>
              </a:defRPr>
            </a:pPr>
            <a:r>
              <a:t>8 tenants</a:t>
            </a:r>
          </a:p>
          <a:p>
            <a:pPr algn="ctr">
              <a:spcBef>
                <a:spcPts val="800"/>
              </a:spcBef>
              <a:spcAft>
                <a:spcPts val="0"/>
              </a:spcAft>
              <a:defRPr sz="6000" b="1" i="0">
                <a:solidFill>
                  <a:srgbClr val="39FF14"/>
                </a:solidFill>
                <a:latin typeface="Calibri"/>
              </a:defRPr>
            </a:pPr>
            <a:r>
              <a:t>65%</a:t>
            </a:r>
          </a:p>
          <a:p>
            <a:pPr algn="ctr">
              <a:spcBef>
                <a:spcPts val="0"/>
              </a:spcBef>
              <a:spcAft>
                <a:spcPts val="0"/>
              </a:spcAft>
              <a:defRPr sz="1800" b="0" i="0">
                <a:solidFill>
                  <a:srgbClr val="E8E8E8"/>
                </a:solidFill>
                <a:latin typeface="Calibri"/>
              </a:defRPr>
            </a:pPr>
            <a:r>
              <a:t>GPU utilization</a:t>
            </a:r>
          </a:p>
          <a:p>
            <a:pPr algn="ctr">
              <a:spcBef>
                <a:spcPts val="800"/>
              </a:spcBef>
              <a:spcAft>
                <a:spcPts val="0"/>
              </a:spcAft>
              <a:defRPr sz="1800" b="0" i="0">
                <a:solidFill>
                  <a:srgbClr val="39FF14"/>
                </a:solidFill>
                <a:latin typeface="Calibri"/>
              </a:defRPr>
            </a:pPr>
            <a:r>
              <a:t>Same building, 8× the revenue.</a:t>
            </a:r>
          </a:p>
        </p:txBody>
      </p:sp>
      <p:sp>
        <p:nvSpPr>
          <p:cNvPr id="5" name="Rounded Rectangle 4"/>
          <p:cNvSpPr/>
          <p:nvPr/>
        </p:nvSpPr>
        <p:spPr>
          <a:xfrm>
            <a:off x="457200" y="4754880"/>
            <a:ext cx="11277295" cy="109728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0">
                <a:solidFill>
                  <a:srgbClr val="E8E8E8"/>
                </a:solidFill>
                <a:latin typeface="Calibri"/>
              </a:defRPr>
            </a:pPr>
            <a:r>
              <a:t>Continuous batching: check after every trip. Slot opens → fill it.</a:t>
            </a:r>
          </a:p>
          <a:p>
            <a:pPr algn="ctr">
              <a:spcBef>
                <a:spcPts val="400"/>
              </a:spcBef>
              <a:spcAft>
                <a:spcPts val="0"/>
              </a:spcAft>
              <a:defRPr sz="1800" b="0" i="0">
                <a:solidFill>
                  <a:srgbClr val="39FF14"/>
                </a:solidFill>
                <a:latin typeface="Calibri"/>
              </a:defRPr>
            </a:pPr>
            <a:r>
              <a:t>36× more tenants served vs. static batching (Orca, 2022)</a:t>
            </a:r>
          </a:p>
        </p:txBody>
      </p:sp>
      <p:sp>
        <p:nvSpPr>
          <p:cNvPr id="6" name="TextBox 5"/>
          <p:cNvSpPr txBox="1"/>
          <p:nvPr/>
        </p:nvSpPr>
        <p:spPr>
          <a:xfrm>
            <a:off x="457200" y="6035040"/>
            <a:ext cx="11277295" cy="548640"/>
          </a:xfrm>
          <a:prstGeom prst="rect">
            <a:avLst/>
          </a:prstGeom>
          <a:noFill/>
        </p:spPr>
        <p:txBody>
          <a:bodyPr wrap="square">
            <a:spAutoFit/>
          </a:bodyPr>
          <a:lstStyle/>
          <a:p>
            <a:pPr algn="ctr">
              <a:defRPr sz="1800" b="0" i="0">
                <a:solidFill>
                  <a:srgbClr val="FF4444"/>
                </a:solidFill>
                <a:latin typeface="Calibri"/>
              </a:defRPr>
            </a:pPr>
            <a:r>
              <a:t>But now everyone shares the elevator. Blake's furniture slows it for everyone.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The Storage Room Crisis</a:t>
            </a:r>
          </a:p>
        </p:txBody>
      </p:sp>
      <p:sp>
        <p:nvSpPr>
          <p:cNvPr id="3" name="TextBox 2"/>
          <p:cNvSpPr txBox="1"/>
          <p:nvPr/>
        </p:nvSpPr>
        <p:spPr>
          <a:xfrm>
            <a:off x="640080" y="1005840"/>
            <a:ext cx="10972800" cy="457200"/>
          </a:xfrm>
          <a:prstGeom prst="rect">
            <a:avLst/>
          </a:prstGeom>
          <a:noFill/>
        </p:spPr>
        <p:txBody>
          <a:bodyPr wrap="square">
            <a:spAutoFit/>
          </a:bodyPr>
          <a:lstStyle/>
          <a:p>
            <a:pPr algn="l">
              <a:defRPr sz="1800" b="0" i="0">
                <a:solidFill>
                  <a:srgbClr val="E8E8E8"/>
                </a:solidFill>
                <a:latin typeface="Calibri"/>
              </a:defRPr>
            </a:pPr>
            <a:r>
              <a:t>KV Cache — every token adds to the pile</a:t>
            </a:r>
          </a:p>
        </p:txBody>
      </p:sp>
      <p:sp>
        <p:nvSpPr>
          <p:cNvPr id="4" name="Rounded Rectangle 3"/>
          <p:cNvSpPr/>
          <p:nvPr/>
        </p:nvSpPr>
        <p:spPr>
          <a:xfrm>
            <a:off x="457200" y="1737360"/>
            <a:ext cx="914400" cy="1097280"/>
          </a:xfrm>
          <a:prstGeom prst="roundRect">
            <a:avLst/>
          </a:prstGeom>
          <a:solidFill>
            <a:srgbClr val="00D4FF">
              <a:alpha val="40000"/>
            </a:srgbClr>
          </a:solid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Alex</a:t>
            </a:r>
          </a:p>
        </p:txBody>
      </p:sp>
      <p:sp>
        <p:nvSpPr>
          <p:cNvPr id="5" name="Rounded Rectangle 4"/>
          <p:cNvSpPr/>
          <p:nvPr/>
        </p:nvSpPr>
        <p:spPr>
          <a:xfrm>
            <a:off x="1463040" y="1737360"/>
            <a:ext cx="914400" cy="1097280"/>
          </a:xfrm>
          <a:prstGeom prst="roundRect">
            <a:avLst/>
          </a:prstGeom>
          <a:solidFill>
            <a:srgbClr val="00D4FF">
              <a:alpha val="40000"/>
            </a:srgbClr>
          </a:solid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Alex</a:t>
            </a:r>
          </a:p>
        </p:txBody>
      </p:sp>
      <p:sp>
        <p:nvSpPr>
          <p:cNvPr id="6" name="Rounded Rectangle 5"/>
          <p:cNvSpPr/>
          <p:nvPr/>
        </p:nvSpPr>
        <p:spPr>
          <a:xfrm>
            <a:off x="2468880" y="1737360"/>
            <a:ext cx="914400" cy="1097280"/>
          </a:xfrm>
          <a:prstGeom prst="roundRect">
            <a:avLst/>
          </a:prstGeom>
          <a:solidFill>
            <a:srgbClr val="00D4FF">
              <a:alpha val="40000"/>
            </a:srgbClr>
          </a:solid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Alex</a:t>
            </a:r>
          </a:p>
        </p:txBody>
      </p:sp>
      <p:sp>
        <p:nvSpPr>
          <p:cNvPr id="7" name="TextBox 6"/>
          <p:cNvSpPr txBox="1"/>
          <p:nvPr/>
        </p:nvSpPr>
        <p:spPr>
          <a:xfrm>
            <a:off x="3474720" y="1737360"/>
            <a:ext cx="1828800" cy="1097280"/>
          </a:xfrm>
          <a:prstGeom prst="rect">
            <a:avLst/>
          </a:prstGeom>
          <a:noFill/>
        </p:spPr>
        <p:txBody>
          <a:bodyPr wrap="square">
            <a:spAutoFit/>
          </a:bodyPr>
          <a:lstStyle/>
          <a:p>
            <a:pPr algn="l">
              <a:defRPr sz="2800" b="1" i="0">
                <a:solidFill>
                  <a:srgbClr val="00D4FF"/>
                </a:solidFill>
                <a:latin typeface="Calibri"/>
              </a:defRPr>
            </a:pPr>
            <a:r>
              <a:t>8%</a:t>
            </a:r>
          </a:p>
          <a:p>
            <a:pPr algn="l">
              <a:spcBef>
                <a:spcPts val="0"/>
              </a:spcBef>
              <a:spcAft>
                <a:spcPts val="0"/>
              </a:spcAft>
              <a:defRPr sz="1600" b="0" i="0">
                <a:solidFill>
                  <a:srgbClr val="00D4FF"/>
                </a:solidFill>
                <a:latin typeface="Calibri"/>
              </a:defRPr>
            </a:pPr>
            <a:r>
              <a:t>of room</a:t>
            </a:r>
          </a:p>
        </p:txBody>
      </p:sp>
      <p:sp>
        <p:nvSpPr>
          <p:cNvPr id="8" name="Rounded Rectangle 7"/>
          <p:cNvSpPr/>
          <p:nvPr/>
        </p:nvSpPr>
        <p:spPr>
          <a:xfrm>
            <a:off x="5029200" y="1737360"/>
            <a:ext cx="914400" cy="1097280"/>
          </a:xfrm>
          <a:prstGeom prst="roundRect">
            <a:avLst/>
          </a:prstGeom>
          <a:solidFill>
            <a:srgbClr val="FF4444">
              <a:alpha val="40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Blake</a:t>
            </a:r>
          </a:p>
        </p:txBody>
      </p:sp>
      <p:sp>
        <p:nvSpPr>
          <p:cNvPr id="9" name="Rounded Rectangle 8"/>
          <p:cNvSpPr/>
          <p:nvPr/>
        </p:nvSpPr>
        <p:spPr>
          <a:xfrm>
            <a:off x="6035040" y="1737360"/>
            <a:ext cx="914400" cy="1097280"/>
          </a:xfrm>
          <a:prstGeom prst="roundRect">
            <a:avLst/>
          </a:prstGeom>
          <a:solidFill>
            <a:srgbClr val="FF4444">
              <a:alpha val="40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Blake</a:t>
            </a:r>
          </a:p>
        </p:txBody>
      </p:sp>
      <p:sp>
        <p:nvSpPr>
          <p:cNvPr id="10" name="Rounded Rectangle 9"/>
          <p:cNvSpPr/>
          <p:nvPr/>
        </p:nvSpPr>
        <p:spPr>
          <a:xfrm>
            <a:off x="7040880" y="1737360"/>
            <a:ext cx="914400" cy="1097280"/>
          </a:xfrm>
          <a:prstGeom prst="roundRect">
            <a:avLst/>
          </a:prstGeom>
          <a:solidFill>
            <a:srgbClr val="FF4444">
              <a:alpha val="40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Blake</a:t>
            </a:r>
          </a:p>
        </p:txBody>
      </p:sp>
      <p:sp>
        <p:nvSpPr>
          <p:cNvPr id="11" name="Rounded Rectangle 10"/>
          <p:cNvSpPr/>
          <p:nvPr/>
        </p:nvSpPr>
        <p:spPr>
          <a:xfrm>
            <a:off x="8046720" y="1737360"/>
            <a:ext cx="914400" cy="1097280"/>
          </a:xfrm>
          <a:prstGeom prst="roundRect">
            <a:avLst/>
          </a:prstGeom>
          <a:solidFill>
            <a:srgbClr val="FF4444">
              <a:alpha val="40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Blake</a:t>
            </a:r>
          </a:p>
        </p:txBody>
      </p:sp>
      <p:sp>
        <p:nvSpPr>
          <p:cNvPr id="12" name="Rounded Rectangle 11"/>
          <p:cNvSpPr/>
          <p:nvPr/>
        </p:nvSpPr>
        <p:spPr>
          <a:xfrm>
            <a:off x="9052560" y="1737360"/>
            <a:ext cx="914400" cy="1097280"/>
          </a:xfrm>
          <a:prstGeom prst="roundRect">
            <a:avLst/>
          </a:prstGeom>
          <a:solidFill>
            <a:srgbClr val="FF4444">
              <a:alpha val="40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Blake</a:t>
            </a:r>
          </a:p>
        </p:txBody>
      </p:sp>
      <p:sp>
        <p:nvSpPr>
          <p:cNvPr id="13" name="Rounded Rectangle 12"/>
          <p:cNvSpPr/>
          <p:nvPr/>
        </p:nvSpPr>
        <p:spPr>
          <a:xfrm>
            <a:off x="10058400" y="1737360"/>
            <a:ext cx="914400" cy="1097280"/>
          </a:xfrm>
          <a:prstGeom prst="roundRect">
            <a:avLst/>
          </a:prstGeom>
          <a:solidFill>
            <a:srgbClr val="FF4444">
              <a:alpha val="40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Blake</a:t>
            </a:r>
          </a:p>
        </p:txBody>
      </p:sp>
      <p:sp>
        <p:nvSpPr>
          <p:cNvPr id="14" name="TextBox 13"/>
          <p:cNvSpPr txBox="1"/>
          <p:nvPr/>
        </p:nvSpPr>
        <p:spPr>
          <a:xfrm>
            <a:off x="11155680" y="1737360"/>
            <a:ext cx="914400" cy="1097280"/>
          </a:xfrm>
          <a:prstGeom prst="rect">
            <a:avLst/>
          </a:prstGeom>
          <a:noFill/>
        </p:spPr>
        <p:txBody>
          <a:bodyPr wrap="square">
            <a:spAutoFit/>
          </a:bodyPr>
          <a:lstStyle/>
          <a:p>
            <a:pPr algn="l">
              <a:defRPr sz="2800" b="1" i="0">
                <a:solidFill>
                  <a:srgbClr val="FF4444"/>
                </a:solidFill>
                <a:latin typeface="Calibri"/>
              </a:defRPr>
            </a:pPr>
            <a:r>
              <a:t>79%</a:t>
            </a:r>
          </a:p>
          <a:p>
            <a:pPr algn="l">
              <a:spcBef>
                <a:spcPts val="0"/>
              </a:spcBef>
              <a:spcAft>
                <a:spcPts val="0"/>
              </a:spcAft>
              <a:defRPr sz="1600" b="0" i="0">
                <a:solidFill>
                  <a:srgbClr val="FF4444"/>
                </a:solidFill>
                <a:latin typeface="Calibri"/>
              </a:defRPr>
            </a:pPr>
            <a:r>
              <a:t>of room</a:t>
            </a:r>
          </a:p>
        </p:txBody>
      </p:sp>
      <p:sp>
        <p:nvSpPr>
          <p:cNvPr id="15" name="TextBox 14"/>
          <p:cNvSpPr txBox="1"/>
          <p:nvPr/>
        </p:nvSpPr>
        <p:spPr>
          <a:xfrm>
            <a:off x="457200" y="3017520"/>
            <a:ext cx="11277295" cy="365760"/>
          </a:xfrm>
          <a:prstGeom prst="rect">
            <a:avLst/>
          </a:prstGeom>
          <a:noFill/>
        </p:spPr>
        <p:txBody>
          <a:bodyPr wrap="square">
            <a:spAutoFit/>
          </a:bodyPr>
          <a:lstStyle/>
          <a:p>
            <a:pPr algn="ctr">
              <a:defRPr sz="1800" b="0" i="0">
                <a:solidFill>
                  <a:srgbClr val="E8E8E8"/>
                </a:solidFill>
                <a:latin typeface="Calibri"/>
              </a:defRPr>
            </a:pPr>
            <a:r>
              <a:t>Blake's 4,000 tokens = ~4 GB of GPU memory</a:t>
            </a:r>
          </a:p>
        </p:txBody>
      </p:sp>
      <p:sp>
        <p:nvSpPr>
          <p:cNvPr id="16" name="Rounded Rectangle 15"/>
          <p:cNvSpPr/>
          <p:nvPr/>
        </p:nvSpPr>
        <p:spPr>
          <a:xfrm>
            <a:off x="457200" y="3566160"/>
            <a:ext cx="11277295" cy="2011680"/>
          </a:xfrm>
          <a:prstGeom prst="roundRect">
            <a:avLst/>
          </a:prstGeom>
          <a:solidFill>
            <a:srgbClr val="FF4444">
              <a:alpha val="12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4444"/>
                </a:solidFill>
                <a:latin typeface="Calibri"/>
              </a:defRPr>
            </a:pPr>
            <a:r>
              <a:t>⚠️ STORAGE FULL → EVICTION</a:t>
            </a:r>
          </a:p>
          <a:p>
            <a:pPr algn="ctr">
              <a:spcBef>
                <a:spcPts val="1000"/>
              </a:spcBef>
              <a:spcAft>
                <a:spcPts val="0"/>
              </a:spcAft>
              <a:defRPr sz="2000" b="0" i="0">
                <a:solidFill>
                  <a:srgbClr val="E8E8E8"/>
                </a:solidFill>
                <a:latin typeface="Calibri"/>
              </a:defRPr>
            </a:pPr>
            <a:r>
              <a:t>Alex's stuff moved to basement. Must re-register when rescheduled.</a:t>
            </a:r>
          </a:p>
          <a:p>
            <a:pPr algn="ctr">
              <a:spcBef>
                <a:spcPts val="800"/>
              </a:spcBef>
              <a:spcAft>
                <a:spcPts val="0"/>
              </a:spcAft>
              <a:defRPr sz="2000" b="0" i="0">
                <a:solidFill>
                  <a:srgbClr val="FFB347"/>
                </a:solidFill>
                <a:latin typeface="Calibri"/>
              </a:defRPr>
            </a:pPr>
            <a:r>
              <a:t>That's your mystery TTFT spike.</a:t>
            </a:r>
          </a:p>
        </p:txBody>
      </p:sp>
      <p:sp>
        <p:nvSpPr>
          <p:cNvPr id="17" name="TextBox 16"/>
          <p:cNvSpPr txBox="1"/>
          <p:nvPr/>
        </p:nvSpPr>
        <p:spPr>
          <a:xfrm>
            <a:off x="457200" y="5852160"/>
            <a:ext cx="11277295" cy="457200"/>
          </a:xfrm>
          <a:prstGeom prst="rect">
            <a:avLst/>
          </a:prstGeom>
          <a:noFill/>
        </p:spPr>
        <p:txBody>
          <a:bodyPr wrap="square">
            <a:spAutoFit/>
          </a:bodyPr>
          <a:lstStyle/>
          <a:p>
            <a:pPr algn="ctr">
              <a:defRPr sz="1800" b="0" i="0">
                <a:solidFill>
                  <a:srgbClr val="39FF14"/>
                </a:solidFill>
                <a:latin typeface="Consolas"/>
              </a:defRPr>
            </a:pPr>
            <a:r>
              <a:t>vllm:kv_cache_usage_perc  &gt;85% = danger zone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What Alex Experiences</a:t>
            </a:r>
          </a:p>
        </p:txBody>
      </p:sp>
      <p:sp>
        <p:nvSpPr>
          <p:cNvPr id="3" name="Rounded Rectangle 2"/>
          <p:cNvSpPr/>
          <p:nvPr/>
        </p:nvSpPr>
        <p:spPr>
          <a:xfrm>
            <a:off x="457200" y="1188720"/>
            <a:ext cx="11277295" cy="146304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0">
                <a:solidFill>
                  <a:srgbClr val="39FF14"/>
                </a:solidFill>
                <a:latin typeface="Calibri"/>
              </a:defRPr>
            </a:pPr>
            <a:r>
              <a:t>🟢 Alex alone:</a:t>
            </a:r>
          </a:p>
          <a:p>
            <a:pPr algn="l">
              <a:spcBef>
                <a:spcPts val="800"/>
              </a:spcBef>
              <a:spcAft>
                <a:spcPts val="0"/>
              </a:spcAft>
              <a:defRPr sz="2200" b="0" i="0">
                <a:solidFill>
                  <a:srgbClr val="E8E8E8"/>
                </a:solidFill>
                <a:latin typeface="Calibri"/>
              </a:defRPr>
            </a:pPr>
            <a:r>
              <a:t>TTFT 82ms → ITL 14ms × 64 tokens → Done in 210ms</a:t>
            </a:r>
          </a:p>
          <a:p>
            <a:pPr algn="l">
              <a:spcBef>
                <a:spcPts val="400"/>
              </a:spcBef>
              <a:spcAft>
                <a:spcPts val="0"/>
              </a:spcAft>
              <a:defRPr sz="1800" b="0" i="0">
                <a:solidFill>
                  <a:srgbClr val="39FF14"/>
                </a:solidFill>
                <a:latin typeface="Calibri"/>
              </a:defRPr>
            </a:pPr>
            <a:r>
              <a:t>Express elevator. Smooth.</a:t>
            </a:r>
          </a:p>
        </p:txBody>
      </p:sp>
      <p:sp>
        <p:nvSpPr>
          <p:cNvPr id="4" name="Rounded Rectangle 3"/>
          <p:cNvSpPr/>
          <p:nvPr/>
        </p:nvSpPr>
        <p:spPr>
          <a:xfrm>
            <a:off x="457200" y="2926080"/>
            <a:ext cx="11277295" cy="1463040"/>
          </a:xfrm>
          <a:prstGeom prst="roundRect">
            <a:avLst/>
          </a:prstGeom>
          <a:no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0">
                <a:solidFill>
                  <a:srgbClr val="FF4444"/>
                </a:solidFill>
                <a:latin typeface="Calibri"/>
              </a:defRPr>
            </a:pPr>
            <a:r>
              <a:t>🔴 Alex + Blake in batch:</a:t>
            </a:r>
          </a:p>
          <a:p>
            <a:pPr algn="l">
              <a:spcBef>
                <a:spcPts val="800"/>
              </a:spcBef>
              <a:spcAft>
                <a:spcPts val="0"/>
              </a:spcAft>
              <a:defRPr sz="2200" b="0" i="0">
                <a:solidFill>
                  <a:srgbClr val="E8E8E8"/>
                </a:solidFill>
                <a:latin typeface="Calibri"/>
              </a:defRPr>
            </a:pPr>
            <a:r>
              <a:t>TTFT 120ms → ITL 45ms × 64 tokens → Done in 482ms</a:t>
            </a:r>
          </a:p>
          <a:p>
            <a:pPr algn="l">
              <a:spcBef>
                <a:spcPts val="400"/>
              </a:spcBef>
              <a:spcAft>
                <a:spcPts val="0"/>
              </a:spcAft>
              <a:defRPr sz="1800" b="0" i="0">
                <a:solidFill>
                  <a:srgbClr val="FF4444"/>
                </a:solidFill>
                <a:latin typeface="Calibri"/>
              </a:defRPr>
            </a:pPr>
            <a:r>
              <a:t>Same 64 tokens. 2.3× slower. Zero errors.</a:t>
            </a:r>
          </a:p>
        </p:txBody>
      </p:sp>
      <p:sp>
        <p:nvSpPr>
          <p:cNvPr id="5" name="Rounded Rectangle 4"/>
          <p:cNvSpPr/>
          <p:nvPr/>
        </p:nvSpPr>
        <p:spPr>
          <a:xfrm>
            <a:off x="1371600" y="4754880"/>
            <a:ext cx="9448495" cy="1645920"/>
          </a:xfrm>
          <a:prstGeom prst="roundRect">
            <a:avLst/>
          </a:prstGeom>
          <a:solidFill>
            <a:srgbClr val="FFB347">
              <a:alpha val="15000"/>
            </a:srgbClr>
          </a:solidFill>
          <a:ln w="254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B347"/>
                </a:solidFill>
                <a:latin typeface="Calibri"/>
              </a:defRPr>
            </a:pPr>
            <a:r>
              <a:t>ITL × tokens = phantom latency</a:t>
            </a:r>
          </a:p>
          <a:p>
            <a:pPr algn="ctr">
              <a:spcBef>
                <a:spcPts val="1000"/>
              </a:spcBef>
              <a:spcAft>
                <a:spcPts val="0"/>
              </a:spcAft>
              <a:defRPr sz="2200" b="0" i="0">
                <a:solidFill>
                  <a:srgbClr val="E8E8E8"/>
                </a:solidFill>
                <a:latin typeface="Calibri"/>
              </a:defRPr>
            </a:pPr>
            <a:r>
              <a:t>The elevator slowed. Alex didn't change. The building did.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FF4444"/>
                </a:solidFill>
                <a:latin typeface="Calibri"/>
              </a:defRPr>
            </a:pPr>
            <a:r>
              <a:t>Your Dashboard Lies</a:t>
            </a:r>
          </a:p>
        </p:txBody>
      </p:sp>
      <p:sp>
        <p:nvSpPr>
          <p:cNvPr id="3" name="TextBox 2"/>
          <p:cNvSpPr txBox="1"/>
          <p:nvPr/>
        </p:nvSpPr>
        <p:spPr>
          <a:xfrm>
            <a:off x="457200" y="1188720"/>
            <a:ext cx="5394960" cy="457200"/>
          </a:xfrm>
          <a:prstGeom prst="rect">
            <a:avLst/>
          </a:prstGeom>
          <a:noFill/>
        </p:spPr>
        <p:txBody>
          <a:bodyPr wrap="square">
            <a:spAutoFit/>
          </a:bodyPr>
          <a:lstStyle/>
          <a:p>
            <a:pPr algn="ctr">
              <a:defRPr sz="2400" b="1" i="0">
                <a:solidFill>
                  <a:srgbClr val="FF4444"/>
                </a:solidFill>
                <a:latin typeface="Calibri"/>
              </a:defRPr>
            </a:pPr>
            <a:r>
              <a:t>What RED Shows</a:t>
            </a:r>
          </a:p>
        </p:txBody>
      </p:sp>
      <p:sp>
        <p:nvSpPr>
          <p:cNvPr id="4" name="Rounded Rectangle 3"/>
          <p:cNvSpPr/>
          <p:nvPr/>
        </p:nvSpPr>
        <p:spPr>
          <a:xfrm>
            <a:off x="457200" y="1828800"/>
            <a:ext cx="5394960" cy="91440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9FF14"/>
                </a:solidFill>
                <a:latin typeface="Calibri"/>
              </a:defRPr>
            </a:pPr>
            <a:r>
              <a:t>RATE                                   ✓</a:t>
            </a:r>
          </a:p>
        </p:txBody>
      </p:sp>
      <p:sp>
        <p:nvSpPr>
          <p:cNvPr id="5" name="Rounded Rectangle 4"/>
          <p:cNvSpPr/>
          <p:nvPr/>
        </p:nvSpPr>
        <p:spPr>
          <a:xfrm>
            <a:off x="457200" y="2926080"/>
            <a:ext cx="5394960" cy="91440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9FF14"/>
                </a:solidFill>
                <a:latin typeface="Calibri"/>
              </a:defRPr>
            </a:pPr>
            <a:r>
              <a:t>ERRORS                                 0</a:t>
            </a:r>
          </a:p>
        </p:txBody>
      </p:sp>
      <p:sp>
        <p:nvSpPr>
          <p:cNvPr id="6" name="Rounded Rectangle 5"/>
          <p:cNvSpPr/>
          <p:nvPr/>
        </p:nvSpPr>
        <p:spPr>
          <a:xfrm>
            <a:off x="457200" y="4023360"/>
            <a:ext cx="5394960" cy="914400"/>
          </a:xfrm>
          <a:prstGeom prst="roundRect">
            <a:avLst/>
          </a:prstGeom>
          <a:no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4444"/>
                </a:solidFill>
                <a:latin typeface="Calibri"/>
              </a:defRPr>
            </a:pPr>
            <a:r>
              <a:t>P99                              1.8s ✗</a:t>
            </a:r>
          </a:p>
        </p:txBody>
      </p:sp>
      <p:sp>
        <p:nvSpPr>
          <p:cNvPr id="7" name="Rounded Rectangle 6"/>
          <p:cNvSpPr/>
          <p:nvPr/>
        </p:nvSpPr>
        <p:spPr>
          <a:xfrm>
            <a:off x="457200" y="5120640"/>
            <a:ext cx="5394960" cy="731520"/>
          </a:xfrm>
          <a:prstGeom prst="roundRect">
            <a:avLst/>
          </a:prstGeom>
          <a:solidFill>
            <a:srgbClr val="FF4444">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FF4444"/>
                </a:solidFill>
                <a:latin typeface="Calibri"/>
              </a:defRPr>
            </a:pPr>
            <a:r>
              <a:t>Conclusion: slow tenants. Build more buildings.</a:t>
            </a:r>
          </a:p>
        </p:txBody>
      </p:sp>
      <p:sp>
        <p:nvSpPr>
          <p:cNvPr id="8" name="TextBox 7"/>
          <p:cNvSpPr txBox="1"/>
          <p:nvPr/>
        </p:nvSpPr>
        <p:spPr>
          <a:xfrm>
            <a:off x="6309360" y="1188720"/>
            <a:ext cx="5394960" cy="457200"/>
          </a:xfrm>
          <a:prstGeom prst="rect">
            <a:avLst/>
          </a:prstGeom>
          <a:noFill/>
        </p:spPr>
        <p:txBody>
          <a:bodyPr wrap="square">
            <a:spAutoFit/>
          </a:bodyPr>
          <a:lstStyle/>
          <a:p>
            <a:pPr algn="ctr">
              <a:defRPr sz="2400" b="1" i="0">
                <a:solidFill>
                  <a:srgbClr val="39FF14"/>
                </a:solidFill>
                <a:latin typeface="Calibri"/>
              </a:defRPr>
            </a:pPr>
            <a:r>
              <a:t>What Actually Happened</a:t>
            </a:r>
          </a:p>
        </p:txBody>
      </p:sp>
      <p:sp>
        <p:nvSpPr>
          <p:cNvPr id="9" name="Rounded Rectangle 8"/>
          <p:cNvSpPr/>
          <p:nvPr/>
        </p:nvSpPr>
        <p:spPr>
          <a:xfrm>
            <a:off x="6309360" y="1828800"/>
            <a:ext cx="1371600" cy="640080"/>
          </a:xfrm>
          <a:prstGeom prst="roundRect">
            <a:avLst/>
          </a:prstGeom>
          <a:solidFill>
            <a:srgbClr val="39FF14">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190ms</a:t>
            </a:r>
          </a:p>
        </p:txBody>
      </p:sp>
      <p:sp>
        <p:nvSpPr>
          <p:cNvPr id="10" name="Rounded Rectangle 9"/>
          <p:cNvSpPr/>
          <p:nvPr/>
        </p:nvSpPr>
        <p:spPr>
          <a:xfrm>
            <a:off x="7772400" y="1828800"/>
            <a:ext cx="3931920" cy="640080"/>
          </a:xfrm>
          <a:prstGeom prst="roundRect">
            <a:avLst/>
          </a:prstGeom>
          <a:solidFill>
            <a:srgbClr val="FF4444">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E8E8E8"/>
                </a:solidFill>
                <a:latin typeface="Calibri"/>
              </a:defRPr>
            </a:pPr>
            <a:r>
              <a:t>1,610ms WAITING</a:t>
            </a:r>
          </a:p>
        </p:txBody>
      </p:sp>
      <p:sp>
        <p:nvSpPr>
          <p:cNvPr id="11" name="TextBox 10"/>
          <p:cNvSpPr txBox="1"/>
          <p:nvPr/>
        </p:nvSpPr>
        <p:spPr>
          <a:xfrm>
            <a:off x="6400800" y="2743200"/>
            <a:ext cx="5303520" cy="2560320"/>
          </a:xfrm>
          <a:prstGeom prst="rect">
            <a:avLst/>
          </a:prstGeom>
          <a:noFill/>
        </p:spPr>
        <p:txBody>
          <a:bodyPr wrap="square">
            <a:spAutoFit/>
          </a:bodyPr>
          <a:lstStyle/>
          <a:p>
            <a:pPr algn="l">
              <a:defRPr sz="2000" b="0" i="0">
                <a:solidFill>
                  <a:srgbClr val="FF4444"/>
                </a:solidFill>
                <a:latin typeface="Calibri"/>
              </a:defRPr>
            </a:pPr>
            <a:r>
              <a:t>• Storage: 94% full</a:t>
            </a:r>
          </a:p>
          <a:p>
            <a:pPr algn="l">
              <a:spcBef>
                <a:spcPts val="800"/>
              </a:spcBef>
              <a:spcAft>
                <a:spcPts val="0"/>
              </a:spcAft>
              <a:defRPr sz="2000" b="0" i="0">
                <a:solidFill>
                  <a:srgbClr val="FFB347"/>
                </a:solidFill>
                <a:latin typeface="Calibri"/>
              </a:defRPr>
            </a:pPr>
            <a:r>
              <a:t>• Occupancy: 28 tenants</a:t>
            </a:r>
          </a:p>
          <a:p>
            <a:pPr algn="l">
              <a:spcBef>
                <a:spcPts val="800"/>
              </a:spcBef>
              <a:spcAft>
                <a:spcPts val="0"/>
              </a:spcAft>
              <a:defRPr sz="2000" b="0" i="0">
                <a:solidFill>
                  <a:srgbClr val="FF4444"/>
                </a:solidFill>
                <a:latin typeface="Calibri"/>
              </a:defRPr>
            </a:pPr>
            <a:r>
              <a:t>• Blake: generating 3,000+ tokens</a:t>
            </a:r>
          </a:p>
          <a:p>
            <a:pPr algn="l">
              <a:spcBef>
                <a:spcPts val="800"/>
              </a:spcBef>
              <a:spcAft>
                <a:spcPts val="0"/>
              </a:spcAft>
              <a:defRPr sz="2000" b="0" i="0">
                <a:solidFill>
                  <a:srgbClr val="FF4444"/>
                </a:solidFill>
                <a:latin typeface="Calibri"/>
              </a:defRPr>
            </a:pPr>
            <a:r>
              <a:t>• Alex: evicted twice</a:t>
            </a:r>
          </a:p>
        </p:txBody>
      </p:sp>
      <p:sp>
        <p:nvSpPr>
          <p:cNvPr id="12" name="Rounded Rectangle 11"/>
          <p:cNvSpPr/>
          <p:nvPr/>
        </p:nvSpPr>
        <p:spPr>
          <a:xfrm>
            <a:off x="6309360" y="5120640"/>
            <a:ext cx="5394960" cy="731520"/>
          </a:xfrm>
          <a:prstGeom prst="roundRect">
            <a:avLst/>
          </a:prstGeom>
          <a:solidFill>
            <a:srgbClr val="39FF14">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39FF14"/>
                </a:solidFill>
                <a:latin typeface="Calibri"/>
              </a:defRPr>
            </a:pPr>
            <a:r>
              <a:t>The tenant was fine. The building was noisy.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Three Causes of Latency</a:t>
            </a:r>
          </a:p>
        </p:txBody>
      </p:sp>
      <p:sp>
        <p:nvSpPr>
          <p:cNvPr id="3" name="Rounded Rectangle 2"/>
          <p:cNvSpPr/>
          <p:nvPr/>
        </p:nvSpPr>
        <p:spPr>
          <a:xfrm>
            <a:off x="457200" y="1188720"/>
            <a:ext cx="3474720" cy="3840480"/>
          </a:xfrm>
          <a:prstGeom prst="roundRect">
            <a:avLst/>
          </a:prstGeom>
          <a:no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0">
                <a:solidFill>
                  <a:srgbClr val="E8E8E8"/>
                </a:solidFill>
                <a:latin typeface="Calibri"/>
              </a:defRPr>
            </a:pPr>
            <a:r>
              <a:t>🕐</a:t>
            </a:r>
          </a:p>
          <a:p>
            <a:pPr algn="ctr">
              <a:spcBef>
                <a:spcPts val="800"/>
              </a:spcBef>
              <a:spcAft>
                <a:spcPts val="0"/>
              </a:spcAft>
              <a:defRPr sz="2400" b="1" i="0">
                <a:solidFill>
                  <a:srgbClr val="00D4FF"/>
                </a:solidFill>
                <a:latin typeface="Calibri"/>
              </a:defRPr>
            </a:pPr>
            <a:r>
              <a:t>SCHEDULING</a:t>
            </a:r>
          </a:p>
          <a:p>
            <a:pPr algn="ctr">
              <a:spcBef>
                <a:spcPts val="800"/>
              </a:spcBef>
              <a:spcAft>
                <a:spcPts val="0"/>
              </a:spcAft>
              <a:defRPr sz="1800" b="0" i="0">
                <a:solidFill>
                  <a:srgbClr val="E8E8E8"/>
                </a:solidFill>
                <a:latin typeface="Calibri"/>
              </a:defRPr>
            </a:pPr>
            <a:r>
              <a:t>Waiting in the lobby</a:t>
            </a:r>
          </a:p>
          <a:p>
            <a:pPr algn="ctr">
              <a:spcBef>
                <a:spcPts val="1200"/>
              </a:spcBef>
              <a:spcAft>
                <a:spcPts val="0"/>
              </a:spcAft>
              <a:defRPr sz="1400" b="0" i="0">
                <a:solidFill>
                  <a:srgbClr val="39FF14"/>
                </a:solidFill>
                <a:latin typeface="Consolas"/>
              </a:defRPr>
            </a:pPr>
            <a:r>
              <a:t>vllm:num_requests_waiting</a:t>
            </a:r>
          </a:p>
          <a:p>
            <a:pPr algn="ctr">
              <a:spcBef>
                <a:spcPts val="1200"/>
              </a:spcBef>
              <a:spcAft>
                <a:spcPts val="0"/>
              </a:spcAft>
              <a:defRPr sz="1600" b="0" i="0">
                <a:solidFill>
                  <a:srgbClr val="39FF14"/>
                </a:solidFill>
                <a:latin typeface="Calibri"/>
              </a:defRPr>
            </a:pPr>
            <a:r>
              <a:t>Fix: Build more buildings</a:t>
            </a:r>
          </a:p>
        </p:txBody>
      </p:sp>
      <p:sp>
        <p:nvSpPr>
          <p:cNvPr id="4" name="Rounded Rectangle 3"/>
          <p:cNvSpPr/>
          <p:nvPr/>
        </p:nvSpPr>
        <p:spPr>
          <a:xfrm>
            <a:off x="4389120" y="1188720"/>
            <a:ext cx="3474720" cy="3840480"/>
          </a:xfrm>
          <a:prstGeom prst="roundRect">
            <a:avLst/>
          </a:prstGeom>
          <a:noFill/>
          <a:ln w="254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0">
                <a:solidFill>
                  <a:srgbClr val="E8E8E8"/>
                </a:solidFill>
                <a:latin typeface="Calibri"/>
              </a:defRPr>
            </a:pPr>
            <a:r>
              <a:t>🧠</a:t>
            </a:r>
          </a:p>
          <a:p>
            <a:pPr algn="ctr">
              <a:spcBef>
                <a:spcPts val="800"/>
              </a:spcBef>
              <a:spcAft>
                <a:spcPts val="0"/>
              </a:spcAft>
              <a:defRPr sz="2400" b="1" i="0">
                <a:solidFill>
                  <a:srgbClr val="FFB347"/>
                </a:solidFill>
                <a:latin typeface="Calibri"/>
              </a:defRPr>
            </a:pPr>
            <a:r>
              <a:t>MEMORY</a:t>
            </a:r>
          </a:p>
          <a:p>
            <a:pPr algn="ctr">
              <a:spcBef>
                <a:spcPts val="800"/>
              </a:spcBef>
              <a:spcAft>
                <a:spcPts val="0"/>
              </a:spcAft>
              <a:defRPr sz="1800" b="0" i="0">
                <a:solidFill>
                  <a:srgbClr val="E8E8E8"/>
                </a:solidFill>
                <a:latin typeface="Calibri"/>
              </a:defRPr>
            </a:pPr>
            <a:r>
              <a:t>Storage full → evictions</a:t>
            </a:r>
          </a:p>
          <a:p>
            <a:pPr algn="ctr">
              <a:spcBef>
                <a:spcPts val="1200"/>
              </a:spcBef>
              <a:spcAft>
                <a:spcPts val="0"/>
              </a:spcAft>
              <a:defRPr sz="1400" b="0" i="0">
                <a:solidFill>
                  <a:srgbClr val="39FF14"/>
                </a:solidFill>
                <a:latin typeface="Consolas"/>
              </a:defRPr>
            </a:pPr>
            <a:r>
              <a:t>vllm:kv_cache_usage_perc</a:t>
            </a:r>
          </a:p>
          <a:p>
            <a:pPr algn="ctr">
              <a:spcBef>
                <a:spcPts val="1200"/>
              </a:spcBef>
              <a:spcAft>
                <a:spcPts val="0"/>
              </a:spcAft>
              <a:defRPr sz="1600" b="0" i="0">
                <a:solidFill>
                  <a:srgbClr val="39FF14"/>
                </a:solidFill>
                <a:latin typeface="Calibri"/>
              </a:defRPr>
            </a:pPr>
            <a:r>
              <a:t>Fix: Occupancy cap + shared storage</a:t>
            </a:r>
          </a:p>
        </p:txBody>
      </p:sp>
      <p:sp>
        <p:nvSpPr>
          <p:cNvPr id="5" name="Rounded Rectangle 4"/>
          <p:cNvSpPr/>
          <p:nvPr/>
        </p:nvSpPr>
        <p:spPr>
          <a:xfrm>
            <a:off x="8321040" y="1188720"/>
            <a:ext cx="3474720" cy="3840480"/>
          </a:xfrm>
          <a:prstGeom prst="roundRect">
            <a:avLst/>
          </a:prstGeom>
          <a:no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0">
                <a:solidFill>
                  <a:srgbClr val="E8E8E8"/>
                </a:solidFill>
                <a:latin typeface="Calibri"/>
              </a:defRPr>
            </a:pPr>
            <a:r>
              <a:t>👥</a:t>
            </a:r>
          </a:p>
          <a:p>
            <a:pPr algn="ctr">
              <a:spcBef>
                <a:spcPts val="800"/>
              </a:spcBef>
              <a:spcAft>
                <a:spcPts val="0"/>
              </a:spcAft>
              <a:defRPr sz="2400" b="1" i="0">
                <a:solidFill>
                  <a:srgbClr val="FF4444"/>
                </a:solidFill>
                <a:latin typeface="Calibri"/>
              </a:defRPr>
            </a:pPr>
            <a:r>
              <a:t>NEIGHBOUR</a:t>
            </a:r>
          </a:p>
          <a:p>
            <a:pPr algn="ctr">
              <a:spcBef>
                <a:spcPts val="800"/>
              </a:spcBef>
              <a:spcAft>
                <a:spcPts val="0"/>
              </a:spcAft>
              <a:defRPr sz="1800" b="0" i="0">
                <a:solidFill>
                  <a:srgbClr val="E8E8E8"/>
                </a:solidFill>
                <a:latin typeface="Calibri"/>
              </a:defRPr>
            </a:pPr>
            <a:r>
              <a:t>Elevator slowed by renovators</a:t>
            </a:r>
          </a:p>
          <a:p>
            <a:pPr algn="ctr">
              <a:spcBef>
                <a:spcPts val="1200"/>
              </a:spcBef>
              <a:spcAft>
                <a:spcPts val="0"/>
              </a:spcAft>
              <a:defRPr sz="1400" b="0" i="0">
                <a:solidFill>
                  <a:srgbClr val="39FF14"/>
                </a:solidFill>
                <a:latin typeface="Consolas"/>
              </a:defRPr>
            </a:pPr>
            <a:r>
              <a:t>vllm:inter_token_latency_seconds</a:t>
            </a:r>
          </a:p>
          <a:p>
            <a:pPr algn="ctr">
              <a:spcBef>
                <a:spcPts val="1200"/>
              </a:spcBef>
              <a:spcAft>
                <a:spcPts val="0"/>
              </a:spcAft>
              <a:defRPr sz="1600" b="0" i="0">
                <a:solidFill>
                  <a:srgbClr val="39FF14"/>
                </a:solidFill>
                <a:latin typeface="Calibri"/>
              </a:defRPr>
            </a:pPr>
            <a:r>
              <a:t>Fix: Renovators → different building</a:t>
            </a:r>
          </a:p>
        </p:txBody>
      </p:sp>
      <p:sp>
        <p:nvSpPr>
          <p:cNvPr id="6" name="TextBox 5"/>
          <p:cNvSpPr txBox="1"/>
          <p:nvPr/>
        </p:nvSpPr>
        <p:spPr>
          <a:xfrm>
            <a:off x="457200" y="5394960"/>
            <a:ext cx="11277295" cy="548640"/>
          </a:xfrm>
          <a:prstGeom prst="rect">
            <a:avLst/>
          </a:prstGeom>
          <a:noFill/>
        </p:spPr>
        <p:txBody>
          <a:bodyPr wrap="square">
            <a:spAutoFit/>
          </a:bodyPr>
          <a:lstStyle/>
          <a:p>
            <a:pPr algn="ctr">
              <a:defRPr sz="2000" b="0" i="0">
                <a:solidFill>
                  <a:srgbClr val="FFB347"/>
                </a:solidFill>
                <a:latin typeface="Calibri"/>
              </a:defRPr>
            </a:pPr>
            <a:r>
              <a:t>Your dashboard shows the complaint. These three tell you the cause.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The Monitoring System</a:t>
            </a:r>
          </a:p>
        </p:txBody>
      </p:sp>
      <p:sp>
        <p:nvSpPr>
          <p:cNvPr id="3" name="Rounded Rectangle 2"/>
          <p:cNvSpPr/>
          <p:nvPr/>
        </p:nvSpPr>
        <p:spPr>
          <a:xfrm>
            <a:off x="4267504" y="1188720"/>
            <a:ext cx="3657600" cy="914400"/>
          </a:xfrm>
          <a:prstGeom prst="roundRect">
            <a:avLst/>
          </a:prstGeom>
          <a:solidFill>
            <a:srgbClr val="00D4FF">
              <a:alpha val="25000"/>
            </a:srgbClr>
          </a:solid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0D4FF"/>
                </a:solidFill>
                <a:latin typeface="Calibri"/>
              </a:defRPr>
            </a:pPr>
            <a:r>
              <a:t>GRAFANA</a:t>
            </a:r>
          </a:p>
          <a:p>
            <a:pPr algn="ctr">
              <a:spcBef>
                <a:spcPts val="0"/>
              </a:spcBef>
              <a:spcAft>
                <a:spcPts val="0"/>
              </a:spcAft>
              <a:defRPr sz="1600" b="0" i="0">
                <a:solidFill>
                  <a:srgbClr val="E8E8E8"/>
                </a:solidFill>
                <a:latin typeface="Calibri"/>
              </a:defRPr>
            </a:pPr>
            <a:r>
              <a:t>Security cameras</a:t>
            </a:r>
          </a:p>
        </p:txBody>
      </p:sp>
      <p:sp>
        <p:nvSpPr>
          <p:cNvPr id="4" name="TextBox 3"/>
          <p:cNvSpPr txBox="1"/>
          <p:nvPr/>
        </p:nvSpPr>
        <p:spPr>
          <a:xfrm>
            <a:off x="4267504" y="2103120"/>
            <a:ext cx="3657600" cy="457200"/>
          </a:xfrm>
          <a:prstGeom prst="rect">
            <a:avLst/>
          </a:prstGeom>
          <a:noFill/>
        </p:spPr>
        <p:txBody>
          <a:bodyPr wrap="square">
            <a:spAutoFit/>
          </a:bodyPr>
          <a:lstStyle/>
          <a:p>
            <a:pPr algn="ctr">
              <a:defRPr sz="1800" b="0" i="0">
                <a:solidFill>
                  <a:srgbClr val="E8E8E8"/>
                </a:solidFill>
                <a:latin typeface="Calibri"/>
              </a:defRPr>
            </a:pPr>
            <a:r>
              <a:t>↓ queries</a:t>
            </a:r>
          </a:p>
        </p:txBody>
      </p:sp>
      <p:sp>
        <p:nvSpPr>
          <p:cNvPr id="5" name="Rounded Rectangle 4"/>
          <p:cNvSpPr/>
          <p:nvPr/>
        </p:nvSpPr>
        <p:spPr>
          <a:xfrm>
            <a:off x="4267504" y="2560320"/>
            <a:ext cx="3657600" cy="914400"/>
          </a:xfrm>
          <a:prstGeom prst="roundRect">
            <a:avLst/>
          </a:prstGeom>
          <a:solidFill>
            <a:srgbClr val="39FF14">
              <a:alpha val="25000"/>
            </a:srgbClr>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39FF14"/>
                </a:solidFill>
                <a:latin typeface="Calibri"/>
              </a:defRPr>
            </a:pPr>
            <a:r>
              <a:t>PROMETHEUS</a:t>
            </a:r>
          </a:p>
          <a:p>
            <a:pPr algn="ctr">
              <a:spcBef>
                <a:spcPts val="0"/>
              </a:spcBef>
              <a:spcAft>
                <a:spcPts val="0"/>
              </a:spcAft>
              <a:defRPr sz="1600" b="0" i="0">
                <a:solidFill>
                  <a:srgbClr val="E8E8E8"/>
                </a:solidFill>
                <a:latin typeface="Calibri"/>
              </a:defRPr>
            </a:pPr>
            <a:r>
              <a:t>Sensor network (every 15s)</a:t>
            </a:r>
          </a:p>
        </p:txBody>
      </p:sp>
      <p:sp>
        <p:nvSpPr>
          <p:cNvPr id="6" name="TextBox 5"/>
          <p:cNvSpPr txBox="1"/>
          <p:nvPr/>
        </p:nvSpPr>
        <p:spPr>
          <a:xfrm>
            <a:off x="2286000" y="3520440"/>
            <a:ext cx="3657600" cy="365760"/>
          </a:xfrm>
          <a:prstGeom prst="rect">
            <a:avLst/>
          </a:prstGeom>
          <a:noFill/>
        </p:spPr>
        <p:txBody>
          <a:bodyPr wrap="square">
            <a:spAutoFit/>
          </a:bodyPr>
          <a:lstStyle/>
          <a:p>
            <a:pPr algn="ctr">
              <a:defRPr sz="2400" b="0" i="0">
                <a:solidFill>
                  <a:srgbClr val="E8E8E8"/>
                </a:solidFill>
                <a:latin typeface="Calibri"/>
              </a:defRPr>
            </a:pPr>
            <a:r>
              <a:t>↙</a:t>
            </a:r>
          </a:p>
        </p:txBody>
      </p:sp>
      <p:sp>
        <p:nvSpPr>
          <p:cNvPr id="7" name="TextBox 6"/>
          <p:cNvSpPr txBox="1"/>
          <p:nvPr/>
        </p:nvSpPr>
        <p:spPr>
          <a:xfrm>
            <a:off x="6248095" y="3520440"/>
            <a:ext cx="3657600" cy="365760"/>
          </a:xfrm>
          <a:prstGeom prst="rect">
            <a:avLst/>
          </a:prstGeom>
          <a:noFill/>
        </p:spPr>
        <p:txBody>
          <a:bodyPr wrap="square">
            <a:spAutoFit/>
          </a:bodyPr>
          <a:lstStyle/>
          <a:p>
            <a:pPr algn="ctr">
              <a:defRPr sz="2400" b="0" i="0">
                <a:solidFill>
                  <a:srgbClr val="E8E8E8"/>
                </a:solidFill>
                <a:latin typeface="Calibri"/>
              </a:defRPr>
            </a:pPr>
            <a:r>
              <a:t>↘</a:t>
            </a:r>
          </a:p>
        </p:txBody>
      </p:sp>
      <p:sp>
        <p:nvSpPr>
          <p:cNvPr id="8" name="Rounded Rectangle 7"/>
          <p:cNvSpPr/>
          <p:nvPr/>
        </p:nvSpPr>
        <p:spPr>
          <a:xfrm>
            <a:off x="1371600" y="3931920"/>
            <a:ext cx="4114800" cy="1097280"/>
          </a:xfrm>
          <a:prstGeom prst="roundRect">
            <a:avLst/>
          </a:prstGeom>
          <a:solidFill>
            <a:srgbClr val="00D4FF">
              <a:alpha val="20000"/>
            </a:srgbClr>
          </a:solid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00D4FF"/>
                </a:solidFill>
                <a:latin typeface="Calibri"/>
              </a:defRPr>
            </a:pPr>
            <a:r>
              <a:t>vLLM /metrics</a:t>
            </a:r>
          </a:p>
          <a:p>
            <a:pPr algn="ctr">
              <a:spcBef>
                <a:spcPts val="400"/>
              </a:spcBef>
              <a:spcAft>
                <a:spcPts val="0"/>
              </a:spcAft>
              <a:defRPr sz="1400" b="0" i="0">
                <a:solidFill>
                  <a:srgbClr val="E8E8E8"/>
                </a:solidFill>
                <a:latin typeface="Calibri"/>
              </a:defRPr>
            </a:pPr>
            <a:r>
              <a:t>Elevator, storage, lobby</a:t>
            </a:r>
          </a:p>
        </p:txBody>
      </p:sp>
      <p:sp>
        <p:nvSpPr>
          <p:cNvPr id="9" name="Rounded Rectangle 8"/>
          <p:cNvSpPr/>
          <p:nvPr/>
        </p:nvSpPr>
        <p:spPr>
          <a:xfrm>
            <a:off x="6705295" y="3931920"/>
            <a:ext cx="4114800" cy="1097280"/>
          </a:xfrm>
          <a:prstGeom prst="roundRect">
            <a:avLst/>
          </a:prstGeom>
          <a:solidFill>
            <a:srgbClr val="FF4444">
              <a:alpha val="20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4444"/>
                </a:solidFill>
                <a:latin typeface="Calibri"/>
              </a:defRPr>
            </a:pPr>
            <a:r>
              <a:t>DCGM Exporter</a:t>
            </a:r>
          </a:p>
          <a:p>
            <a:pPr algn="ctr">
              <a:spcBef>
                <a:spcPts val="400"/>
              </a:spcBef>
              <a:spcAft>
                <a:spcPts val="0"/>
              </a:spcAft>
              <a:defRPr sz="1400" b="0" i="0">
                <a:solidFill>
                  <a:srgbClr val="E8E8E8"/>
                </a:solidFill>
                <a:latin typeface="Calibri"/>
              </a:defRPr>
            </a:pPr>
            <a:r>
              <a:t>Power, temperature, structure</a:t>
            </a:r>
          </a:p>
        </p:txBody>
      </p:sp>
      <p:sp>
        <p:nvSpPr>
          <p:cNvPr id="10" name="TextBox 9"/>
          <p:cNvSpPr txBox="1"/>
          <p:nvPr/>
        </p:nvSpPr>
        <p:spPr>
          <a:xfrm>
            <a:off x="457200" y="5486400"/>
            <a:ext cx="11277295" cy="548640"/>
          </a:xfrm>
          <a:prstGeom prst="rect">
            <a:avLst/>
          </a:prstGeom>
          <a:noFill/>
        </p:spPr>
        <p:txBody>
          <a:bodyPr wrap="square">
            <a:spAutoFit/>
          </a:bodyPr>
          <a:lstStyle/>
          <a:p>
            <a:pPr algn="ctr">
              <a:defRPr sz="1800" b="0" i="0">
                <a:solidFill>
                  <a:srgbClr val="00D4FF"/>
                </a:solidFill>
                <a:latin typeface="Calibri"/>
              </a:defRPr>
            </a:pPr>
            <a:r>
              <a:t>Four components. All open-source. No vendor lock-in.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[PRE-RECORDED] Quiet Sunday Morning</a:t>
            </a:r>
          </a:p>
        </p:txBody>
      </p:sp>
      <p:sp>
        <p:nvSpPr>
          <p:cNvPr id="3" name="TextBox 2"/>
          <p:cNvSpPr txBox="1"/>
          <p:nvPr/>
        </p:nvSpPr>
        <p:spPr>
          <a:xfrm>
            <a:off x="640080" y="1005840"/>
            <a:ext cx="10972800" cy="365760"/>
          </a:xfrm>
          <a:prstGeom prst="rect">
            <a:avLst/>
          </a:prstGeom>
          <a:noFill/>
        </p:spPr>
        <p:txBody>
          <a:bodyPr wrap="square">
            <a:spAutoFit/>
          </a:bodyPr>
          <a:lstStyle/>
          <a:p>
            <a:pPr algn="l">
              <a:defRPr sz="1800" b="0" i="0">
                <a:solidFill>
                  <a:srgbClr val="888888"/>
                </a:solidFill>
                <a:latin typeface="Calibri"/>
              </a:defRPr>
            </a:pPr>
            <a:r>
              <a:t>5 Alexes. All quiet. Replace with Grafana screenshot.</a:t>
            </a:r>
          </a:p>
        </p:txBody>
      </p:sp>
      <p:sp>
        <p:nvSpPr>
          <p:cNvPr id="4" name="Rounded Rectangle 3"/>
          <p:cNvSpPr/>
          <p:nvPr/>
        </p:nvSpPr>
        <p:spPr>
          <a:xfrm>
            <a:off x="457200" y="1645920"/>
            <a:ext cx="3474720" cy="164592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TTFT p99</a:t>
            </a:r>
          </a:p>
          <a:p>
            <a:pPr algn="ctr">
              <a:spcBef>
                <a:spcPts val="800"/>
              </a:spcBef>
              <a:spcAft>
                <a:spcPts val="0"/>
              </a:spcAft>
              <a:defRPr sz="3600" b="1" i="0">
                <a:solidFill>
                  <a:srgbClr val="39FF14"/>
                </a:solidFill>
                <a:latin typeface="Calibri"/>
              </a:defRPr>
            </a:pPr>
            <a:r>
              <a:t>82ms</a:t>
            </a:r>
          </a:p>
        </p:txBody>
      </p:sp>
      <p:sp>
        <p:nvSpPr>
          <p:cNvPr id="5" name="Rounded Rectangle 4"/>
          <p:cNvSpPr/>
          <p:nvPr/>
        </p:nvSpPr>
        <p:spPr>
          <a:xfrm>
            <a:off x="4389120" y="1645920"/>
            <a:ext cx="3474720" cy="164592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ITL p99</a:t>
            </a:r>
          </a:p>
          <a:p>
            <a:pPr algn="ctr">
              <a:spcBef>
                <a:spcPts val="800"/>
              </a:spcBef>
              <a:spcAft>
                <a:spcPts val="0"/>
              </a:spcAft>
              <a:defRPr sz="3600" b="1" i="0">
                <a:solidFill>
                  <a:srgbClr val="39FF14"/>
                </a:solidFill>
                <a:latin typeface="Calibri"/>
              </a:defRPr>
            </a:pPr>
            <a:r>
              <a:t>14ms</a:t>
            </a:r>
          </a:p>
        </p:txBody>
      </p:sp>
      <p:sp>
        <p:nvSpPr>
          <p:cNvPr id="6" name="Rounded Rectangle 5"/>
          <p:cNvSpPr/>
          <p:nvPr/>
        </p:nvSpPr>
        <p:spPr>
          <a:xfrm>
            <a:off x="8321040" y="1645920"/>
            <a:ext cx="3474720" cy="164592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Storage</a:t>
            </a:r>
          </a:p>
          <a:p>
            <a:pPr algn="ctr">
              <a:spcBef>
                <a:spcPts val="800"/>
              </a:spcBef>
              <a:spcAft>
                <a:spcPts val="0"/>
              </a:spcAft>
              <a:defRPr sz="3600" b="1" i="0">
                <a:solidFill>
                  <a:srgbClr val="39FF14"/>
                </a:solidFill>
                <a:latin typeface="Calibri"/>
              </a:defRPr>
            </a:pPr>
            <a:r>
              <a:t>18%</a:t>
            </a:r>
          </a:p>
        </p:txBody>
      </p:sp>
      <p:sp>
        <p:nvSpPr>
          <p:cNvPr id="7" name="Rounded Rectangle 6"/>
          <p:cNvSpPr/>
          <p:nvPr/>
        </p:nvSpPr>
        <p:spPr>
          <a:xfrm>
            <a:off x="457200" y="3566160"/>
            <a:ext cx="3474720" cy="1645920"/>
          </a:xfrm>
          <a:prstGeom prst="roundRect">
            <a:avLst/>
          </a:prstGeom>
          <a:no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Occupancy</a:t>
            </a:r>
          </a:p>
          <a:p>
            <a:pPr algn="ctr">
              <a:spcBef>
                <a:spcPts val="800"/>
              </a:spcBef>
              <a:spcAft>
                <a:spcPts val="0"/>
              </a:spcAft>
              <a:defRPr sz="3600" b="1" i="0">
                <a:solidFill>
                  <a:srgbClr val="00D4FF"/>
                </a:solidFill>
                <a:latin typeface="Calibri"/>
              </a:defRPr>
            </a:pPr>
            <a:r>
              <a:t>5</a:t>
            </a:r>
          </a:p>
        </p:txBody>
      </p:sp>
      <p:sp>
        <p:nvSpPr>
          <p:cNvPr id="8" name="Rounded Rectangle 7"/>
          <p:cNvSpPr/>
          <p:nvPr/>
        </p:nvSpPr>
        <p:spPr>
          <a:xfrm>
            <a:off x="4389120" y="3566160"/>
            <a:ext cx="3474720" cy="1645920"/>
          </a:xfrm>
          <a:prstGeom prst="roundRect">
            <a:avLst/>
          </a:prstGeom>
          <a:no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Power</a:t>
            </a:r>
          </a:p>
          <a:p>
            <a:pPr algn="ctr">
              <a:spcBef>
                <a:spcPts val="800"/>
              </a:spcBef>
              <a:spcAft>
                <a:spcPts val="0"/>
              </a:spcAft>
              <a:defRPr sz="3600" b="1" i="0">
                <a:solidFill>
                  <a:srgbClr val="00D4FF"/>
                </a:solidFill>
                <a:latin typeface="Calibri"/>
              </a:defRPr>
            </a:pPr>
            <a:r>
              <a:t>38%</a:t>
            </a:r>
          </a:p>
        </p:txBody>
      </p:sp>
      <p:sp>
        <p:nvSpPr>
          <p:cNvPr id="9" name="Rounded Rectangle 8"/>
          <p:cNvSpPr/>
          <p:nvPr/>
        </p:nvSpPr>
        <p:spPr>
          <a:xfrm>
            <a:off x="8321040" y="3566160"/>
            <a:ext cx="3474720" cy="164592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Lobby</a:t>
            </a:r>
          </a:p>
          <a:p>
            <a:pPr algn="ctr">
              <a:spcBef>
                <a:spcPts val="800"/>
              </a:spcBef>
              <a:spcAft>
                <a:spcPts val="0"/>
              </a:spcAft>
              <a:defRPr sz="3600" b="1" i="0">
                <a:solidFill>
                  <a:srgbClr val="39FF14"/>
                </a:solidFill>
                <a:latin typeface="Calibri"/>
              </a:defRPr>
            </a:pPr>
            <a:r>
              <a:t>0</a:t>
            </a:r>
          </a:p>
        </p:txBody>
      </p:sp>
      <p:sp>
        <p:nvSpPr>
          <p:cNvPr id="10" name="TextBox 9"/>
          <p:cNvSpPr txBox="1"/>
          <p:nvPr/>
        </p:nvSpPr>
        <p:spPr>
          <a:xfrm>
            <a:off x="457200" y="5760720"/>
            <a:ext cx="11277295" cy="548640"/>
          </a:xfrm>
          <a:prstGeom prst="rect">
            <a:avLst/>
          </a:prstGeom>
          <a:noFill/>
        </p:spPr>
        <p:txBody>
          <a:bodyPr wrap="square">
            <a:spAutoFit/>
          </a:bodyPr>
          <a:lstStyle/>
          <a:p>
            <a:pPr algn="ctr">
              <a:defRPr sz="2200" b="1" i="0">
                <a:solidFill>
                  <a:srgbClr val="39FF14"/>
                </a:solidFill>
                <a:latin typeface="Calibri"/>
              </a:defRPr>
            </a:pPr>
            <a:r>
              <a:t>Everything flat. Everything green. Remember these numbers.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[DEMO] The Renovators Arrive</a:t>
            </a:r>
          </a:p>
        </p:txBody>
      </p:sp>
      <p:sp>
        <p:nvSpPr>
          <p:cNvPr id="3" name="TextBox 2"/>
          <p:cNvSpPr txBox="1"/>
          <p:nvPr/>
        </p:nvSpPr>
        <p:spPr>
          <a:xfrm>
            <a:off x="640080" y="1005840"/>
            <a:ext cx="10972800" cy="365760"/>
          </a:xfrm>
          <a:prstGeom prst="rect">
            <a:avLst/>
          </a:prstGeom>
          <a:noFill/>
        </p:spPr>
        <p:txBody>
          <a:bodyPr wrap="square">
            <a:spAutoFit/>
          </a:bodyPr>
          <a:lstStyle/>
          <a:p>
            <a:pPr algn="l">
              <a:defRPr sz="1800" b="0" i="0">
                <a:solidFill>
                  <a:srgbClr val="E8E8E8"/>
                </a:solidFill>
                <a:latin typeface="Calibri"/>
              </a:defRPr>
            </a:pPr>
            <a:r>
              <a:t>+3 Blakes. Same building. Alex didn't change — the building did.</a:t>
            </a:r>
          </a:p>
        </p:txBody>
      </p:sp>
      <p:sp>
        <p:nvSpPr>
          <p:cNvPr id="4" name="Rounded Rectangle 3"/>
          <p:cNvSpPr/>
          <p:nvPr/>
        </p:nvSpPr>
        <p:spPr>
          <a:xfrm>
            <a:off x="457200" y="1645920"/>
            <a:ext cx="3474720" cy="1645920"/>
          </a:xfrm>
          <a:prstGeom prst="roundRect">
            <a:avLst/>
          </a:prstGeom>
          <a:no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TTFT</a:t>
            </a:r>
          </a:p>
          <a:p>
            <a:pPr algn="ctr">
              <a:spcBef>
                <a:spcPts val="400"/>
              </a:spcBef>
              <a:spcAft>
                <a:spcPts val="0"/>
              </a:spcAft>
              <a:defRPr sz="2800" b="1" i="0">
                <a:solidFill>
                  <a:srgbClr val="FF4444"/>
                </a:solidFill>
                <a:latin typeface="Calibri"/>
              </a:defRPr>
            </a:pPr>
            <a:r>
              <a:t>82 → 420ms</a:t>
            </a:r>
          </a:p>
          <a:p>
            <a:pPr algn="ctr">
              <a:spcBef>
                <a:spcPts val="400"/>
              </a:spcBef>
              <a:spcAft>
                <a:spcPts val="0"/>
              </a:spcAft>
              <a:defRPr sz="1800" b="1" i="0">
                <a:solidFill>
                  <a:srgbClr val="FF4444"/>
                </a:solidFill>
                <a:latin typeface="Calibri"/>
              </a:defRPr>
            </a:pPr>
            <a:r>
              <a:t>▲ 5×</a:t>
            </a:r>
          </a:p>
        </p:txBody>
      </p:sp>
      <p:sp>
        <p:nvSpPr>
          <p:cNvPr id="5" name="Rounded Rectangle 4"/>
          <p:cNvSpPr/>
          <p:nvPr/>
        </p:nvSpPr>
        <p:spPr>
          <a:xfrm>
            <a:off x="4389120" y="1645920"/>
            <a:ext cx="3474720" cy="1645920"/>
          </a:xfrm>
          <a:prstGeom prst="roundRect">
            <a:avLst/>
          </a:prstGeom>
          <a:no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ITL</a:t>
            </a:r>
          </a:p>
          <a:p>
            <a:pPr algn="ctr">
              <a:spcBef>
                <a:spcPts val="400"/>
              </a:spcBef>
              <a:spcAft>
                <a:spcPts val="0"/>
              </a:spcAft>
              <a:defRPr sz="2800" b="1" i="0">
                <a:solidFill>
                  <a:srgbClr val="FF4444"/>
                </a:solidFill>
                <a:latin typeface="Calibri"/>
              </a:defRPr>
            </a:pPr>
            <a:r>
              <a:t>14 → 43ms</a:t>
            </a:r>
          </a:p>
          <a:p>
            <a:pPr algn="ctr">
              <a:spcBef>
                <a:spcPts val="400"/>
              </a:spcBef>
              <a:spcAft>
                <a:spcPts val="0"/>
              </a:spcAft>
              <a:defRPr sz="1800" b="1" i="0">
                <a:solidFill>
                  <a:srgbClr val="FF4444"/>
                </a:solidFill>
                <a:latin typeface="Calibri"/>
              </a:defRPr>
            </a:pPr>
            <a:r>
              <a:t>▲ 3×</a:t>
            </a:r>
          </a:p>
        </p:txBody>
      </p:sp>
      <p:sp>
        <p:nvSpPr>
          <p:cNvPr id="6" name="Rounded Rectangle 5"/>
          <p:cNvSpPr/>
          <p:nvPr/>
        </p:nvSpPr>
        <p:spPr>
          <a:xfrm>
            <a:off x="8321040" y="1645920"/>
            <a:ext cx="3474720" cy="1645920"/>
          </a:xfrm>
          <a:prstGeom prst="roundRect">
            <a:avLst/>
          </a:prstGeom>
          <a:no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Storage</a:t>
            </a:r>
          </a:p>
          <a:p>
            <a:pPr algn="ctr">
              <a:spcBef>
                <a:spcPts val="400"/>
              </a:spcBef>
              <a:spcAft>
                <a:spcPts val="0"/>
              </a:spcAft>
              <a:defRPr sz="2800" b="1" i="0">
                <a:solidFill>
                  <a:srgbClr val="FF4444"/>
                </a:solidFill>
                <a:latin typeface="Calibri"/>
              </a:defRPr>
            </a:pPr>
            <a:r>
              <a:t>18 → 87%</a:t>
            </a:r>
          </a:p>
          <a:p>
            <a:pPr algn="ctr">
              <a:spcBef>
                <a:spcPts val="400"/>
              </a:spcBef>
              <a:spcAft>
                <a:spcPts val="0"/>
              </a:spcAft>
              <a:defRPr sz="1800" b="1" i="0">
                <a:solidFill>
                  <a:srgbClr val="FF4444"/>
                </a:solidFill>
                <a:latin typeface="Calibri"/>
              </a:defRPr>
            </a:pPr>
            <a:r>
              <a:t>▲ DANGER</a:t>
            </a:r>
          </a:p>
        </p:txBody>
      </p:sp>
      <p:sp>
        <p:nvSpPr>
          <p:cNvPr id="7" name="Rounded Rectangle 6"/>
          <p:cNvSpPr/>
          <p:nvPr/>
        </p:nvSpPr>
        <p:spPr>
          <a:xfrm>
            <a:off x="457200" y="3566160"/>
            <a:ext cx="3474720" cy="1645920"/>
          </a:xfrm>
          <a:prstGeom prst="roundRect">
            <a:avLst/>
          </a:prstGeom>
          <a:noFill/>
          <a:ln w="254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Occupancy</a:t>
            </a:r>
          </a:p>
          <a:p>
            <a:pPr algn="ctr">
              <a:spcBef>
                <a:spcPts val="400"/>
              </a:spcBef>
              <a:spcAft>
                <a:spcPts val="0"/>
              </a:spcAft>
              <a:defRPr sz="2800" b="1" i="0">
                <a:solidFill>
                  <a:srgbClr val="FFB347"/>
                </a:solidFill>
                <a:latin typeface="Calibri"/>
              </a:defRPr>
            </a:pPr>
            <a:r>
              <a:t>5 → 8</a:t>
            </a:r>
          </a:p>
          <a:p>
            <a:pPr algn="ctr">
              <a:spcBef>
                <a:spcPts val="400"/>
              </a:spcBef>
              <a:spcAft>
                <a:spcPts val="0"/>
              </a:spcAft>
              <a:defRPr sz="1800" b="1" i="0">
                <a:solidFill>
                  <a:srgbClr val="FFB347"/>
                </a:solidFill>
                <a:latin typeface="Calibri"/>
              </a:defRPr>
            </a:pPr>
            <a:r>
              <a:t>▲ +3</a:t>
            </a:r>
          </a:p>
        </p:txBody>
      </p:sp>
      <p:sp>
        <p:nvSpPr>
          <p:cNvPr id="8" name="Rounded Rectangle 7"/>
          <p:cNvSpPr/>
          <p:nvPr/>
        </p:nvSpPr>
        <p:spPr>
          <a:xfrm>
            <a:off x="4389120" y="3566160"/>
            <a:ext cx="3474720" cy="1645920"/>
          </a:xfrm>
          <a:prstGeom prst="roundRect">
            <a:avLst/>
          </a:prstGeom>
          <a:noFill/>
          <a:ln w="254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Power</a:t>
            </a:r>
          </a:p>
          <a:p>
            <a:pPr algn="ctr">
              <a:spcBef>
                <a:spcPts val="400"/>
              </a:spcBef>
              <a:spcAft>
                <a:spcPts val="0"/>
              </a:spcAft>
              <a:defRPr sz="2800" b="1" i="0">
                <a:solidFill>
                  <a:srgbClr val="FFB347"/>
                </a:solidFill>
                <a:latin typeface="Calibri"/>
              </a:defRPr>
            </a:pPr>
            <a:r>
              <a:t>38 → 74%</a:t>
            </a:r>
          </a:p>
          <a:p>
            <a:pPr algn="ctr">
              <a:spcBef>
                <a:spcPts val="400"/>
              </a:spcBef>
              <a:spcAft>
                <a:spcPts val="0"/>
              </a:spcAft>
              <a:defRPr sz="1800" b="1" i="0">
                <a:solidFill>
                  <a:srgbClr val="FFB347"/>
                </a:solidFill>
                <a:latin typeface="Calibri"/>
              </a:defRPr>
            </a:pPr>
            <a:r>
              <a:t>▲ 2×</a:t>
            </a:r>
          </a:p>
        </p:txBody>
      </p:sp>
      <p:sp>
        <p:nvSpPr>
          <p:cNvPr id="9" name="Rounded Rectangle 8"/>
          <p:cNvSpPr/>
          <p:nvPr/>
        </p:nvSpPr>
        <p:spPr>
          <a:xfrm>
            <a:off x="8321040" y="3566160"/>
            <a:ext cx="3474720" cy="164592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888888"/>
                </a:solidFill>
                <a:latin typeface="Calibri"/>
              </a:defRPr>
            </a:pPr>
            <a:r>
              <a:t>Lobby</a:t>
            </a:r>
          </a:p>
          <a:p>
            <a:pPr algn="ctr">
              <a:spcBef>
                <a:spcPts val="400"/>
              </a:spcBef>
              <a:spcAft>
                <a:spcPts val="0"/>
              </a:spcAft>
              <a:defRPr sz="2800" b="1" i="0">
                <a:solidFill>
                  <a:srgbClr val="39FF14"/>
                </a:solidFill>
                <a:latin typeface="Calibri"/>
              </a:defRPr>
            </a:pPr>
            <a:r>
              <a:t>0</a:t>
            </a:r>
          </a:p>
          <a:p>
            <a:pPr algn="ctr">
              <a:spcBef>
                <a:spcPts val="400"/>
              </a:spcBef>
              <a:spcAft>
                <a:spcPts val="0"/>
              </a:spcAft>
              <a:defRPr sz="1800" b="1" i="0">
                <a:solidFill>
                  <a:srgbClr val="39FF14"/>
                </a:solidFill>
                <a:latin typeface="Calibri"/>
              </a:defRPr>
            </a:pPr>
            <a:r>
              <a:t>✓ STILL ZERO</a:t>
            </a:r>
          </a:p>
        </p:txBody>
      </p:sp>
      <p:sp>
        <p:nvSpPr>
          <p:cNvPr id="10" name="TextBox 9"/>
          <p:cNvSpPr txBox="1"/>
          <p:nvPr/>
        </p:nvSpPr>
        <p:spPr>
          <a:xfrm>
            <a:off x="457200" y="5760720"/>
            <a:ext cx="11277295" cy="548640"/>
          </a:xfrm>
          <a:prstGeom prst="rect">
            <a:avLst/>
          </a:prstGeom>
          <a:noFill/>
        </p:spPr>
        <p:txBody>
          <a:bodyPr wrap="square">
            <a:spAutoFit/>
          </a:bodyPr>
          <a:lstStyle/>
          <a:p>
            <a:pPr algn="ctr">
              <a:defRPr sz="2400" b="1" i="0">
                <a:solidFill>
                  <a:srgbClr val="FF4444"/>
                </a:solidFill>
                <a:latin typeface="Calibri"/>
              </a:defRPr>
            </a:pPr>
            <a:r>
              <a:t>Lobby is EMPTY. It's not a building shortage. It's a neighbour problem.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The Chain Reaction</a:t>
            </a:r>
          </a:p>
        </p:txBody>
      </p:sp>
      <p:sp>
        <p:nvSpPr>
          <p:cNvPr id="3" name="Rounded Rectangle 2"/>
          <p:cNvSpPr/>
          <p:nvPr/>
        </p:nvSpPr>
        <p:spPr>
          <a:xfrm>
            <a:off x="457200" y="1371600"/>
            <a:ext cx="1554480" cy="1371600"/>
          </a:xfrm>
          <a:prstGeom prst="roundRect">
            <a:avLst/>
          </a:prstGeom>
          <a:solidFill>
            <a:srgbClr val="FF4444">
              <a:alpha val="25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8E8E8"/>
                </a:solidFill>
                <a:latin typeface="Calibri"/>
              </a:defRPr>
            </a:pPr>
            <a:r>
              <a:t>Blake</a:t>
            </a:r>
            <a:br/>
            <a:r>
              <a:t>moves in</a:t>
            </a:r>
          </a:p>
        </p:txBody>
      </p:sp>
      <p:sp>
        <p:nvSpPr>
          <p:cNvPr id="4" name="TextBox 3"/>
          <p:cNvSpPr txBox="1"/>
          <p:nvPr/>
        </p:nvSpPr>
        <p:spPr>
          <a:xfrm>
            <a:off x="2011680" y="1828800"/>
            <a:ext cx="320040" cy="457200"/>
          </a:xfrm>
          <a:prstGeom prst="rect">
            <a:avLst/>
          </a:prstGeom>
          <a:noFill/>
        </p:spPr>
        <p:txBody>
          <a:bodyPr wrap="square">
            <a:spAutoFit/>
          </a:bodyPr>
          <a:lstStyle/>
          <a:p>
            <a:pPr algn="ctr">
              <a:defRPr sz="2400" b="0" i="0">
                <a:solidFill>
                  <a:srgbClr val="E8E8E8"/>
                </a:solidFill>
                <a:latin typeface="Calibri"/>
              </a:defRPr>
            </a:pPr>
            <a:r>
              <a:t>→</a:t>
            </a:r>
          </a:p>
        </p:txBody>
      </p:sp>
      <p:sp>
        <p:nvSpPr>
          <p:cNvPr id="5" name="Rounded Rectangle 4"/>
          <p:cNvSpPr/>
          <p:nvPr/>
        </p:nvSpPr>
        <p:spPr>
          <a:xfrm>
            <a:off x="2331720" y="1371600"/>
            <a:ext cx="1554480" cy="1371600"/>
          </a:xfrm>
          <a:prstGeom prst="roundRect">
            <a:avLst/>
          </a:prstGeom>
          <a:solidFill>
            <a:srgbClr val="FFB347">
              <a:alpha val="25000"/>
            </a:srgbClr>
          </a:solidFill>
          <a:ln w="254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8E8E8"/>
                </a:solidFill>
                <a:latin typeface="Calibri"/>
              </a:defRPr>
            </a:pPr>
            <a:r>
              <a:t>Occupancy</a:t>
            </a:r>
            <a:br/>
            <a:r>
              <a:t>5→8</a:t>
            </a:r>
          </a:p>
        </p:txBody>
      </p:sp>
      <p:sp>
        <p:nvSpPr>
          <p:cNvPr id="6" name="TextBox 5"/>
          <p:cNvSpPr txBox="1"/>
          <p:nvPr/>
        </p:nvSpPr>
        <p:spPr>
          <a:xfrm>
            <a:off x="3886200" y="1828800"/>
            <a:ext cx="320040" cy="457200"/>
          </a:xfrm>
          <a:prstGeom prst="rect">
            <a:avLst/>
          </a:prstGeom>
          <a:noFill/>
        </p:spPr>
        <p:txBody>
          <a:bodyPr wrap="square">
            <a:spAutoFit/>
          </a:bodyPr>
          <a:lstStyle/>
          <a:p>
            <a:pPr algn="ctr">
              <a:defRPr sz="2400" b="0" i="0">
                <a:solidFill>
                  <a:srgbClr val="E8E8E8"/>
                </a:solidFill>
                <a:latin typeface="Calibri"/>
              </a:defRPr>
            </a:pPr>
            <a:r>
              <a:t>→</a:t>
            </a:r>
          </a:p>
        </p:txBody>
      </p:sp>
      <p:sp>
        <p:nvSpPr>
          <p:cNvPr id="7" name="Rounded Rectangle 6"/>
          <p:cNvSpPr/>
          <p:nvPr/>
        </p:nvSpPr>
        <p:spPr>
          <a:xfrm>
            <a:off x="4206240" y="1371600"/>
            <a:ext cx="1554480" cy="1371600"/>
          </a:xfrm>
          <a:prstGeom prst="roundRect">
            <a:avLst/>
          </a:prstGeom>
          <a:solidFill>
            <a:srgbClr val="FF4444">
              <a:alpha val="25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8E8E8"/>
                </a:solidFill>
                <a:latin typeface="Calibri"/>
              </a:defRPr>
            </a:pPr>
            <a:r>
              <a:t>Storage</a:t>
            </a:r>
            <a:br/>
            <a:r>
              <a:t>18→87%</a:t>
            </a:r>
          </a:p>
        </p:txBody>
      </p:sp>
      <p:sp>
        <p:nvSpPr>
          <p:cNvPr id="8" name="TextBox 7"/>
          <p:cNvSpPr txBox="1"/>
          <p:nvPr/>
        </p:nvSpPr>
        <p:spPr>
          <a:xfrm>
            <a:off x="5760720" y="1828800"/>
            <a:ext cx="320040" cy="457200"/>
          </a:xfrm>
          <a:prstGeom prst="rect">
            <a:avLst/>
          </a:prstGeom>
          <a:noFill/>
        </p:spPr>
        <p:txBody>
          <a:bodyPr wrap="square">
            <a:spAutoFit/>
          </a:bodyPr>
          <a:lstStyle/>
          <a:p>
            <a:pPr algn="ctr">
              <a:defRPr sz="2400" b="0" i="0">
                <a:solidFill>
                  <a:srgbClr val="E8E8E8"/>
                </a:solidFill>
                <a:latin typeface="Calibri"/>
              </a:defRPr>
            </a:pPr>
            <a:r>
              <a:t>→</a:t>
            </a:r>
          </a:p>
        </p:txBody>
      </p:sp>
      <p:sp>
        <p:nvSpPr>
          <p:cNvPr id="9" name="Rounded Rectangle 8"/>
          <p:cNvSpPr/>
          <p:nvPr/>
        </p:nvSpPr>
        <p:spPr>
          <a:xfrm>
            <a:off x="6080760" y="1371600"/>
            <a:ext cx="1554480" cy="1371600"/>
          </a:xfrm>
          <a:prstGeom prst="roundRect">
            <a:avLst/>
          </a:prstGeom>
          <a:solidFill>
            <a:srgbClr val="FF4444">
              <a:alpha val="25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8E8E8"/>
                </a:solidFill>
                <a:latin typeface="Calibri"/>
              </a:defRPr>
            </a:pPr>
            <a:r>
              <a:t>Evictions</a:t>
            </a:r>
            <a:br/>
            <a:r>
              <a:t>start</a:t>
            </a:r>
          </a:p>
        </p:txBody>
      </p:sp>
      <p:sp>
        <p:nvSpPr>
          <p:cNvPr id="10" name="TextBox 9"/>
          <p:cNvSpPr txBox="1"/>
          <p:nvPr/>
        </p:nvSpPr>
        <p:spPr>
          <a:xfrm>
            <a:off x="7635240" y="1828800"/>
            <a:ext cx="320040" cy="457200"/>
          </a:xfrm>
          <a:prstGeom prst="rect">
            <a:avLst/>
          </a:prstGeom>
          <a:noFill/>
        </p:spPr>
        <p:txBody>
          <a:bodyPr wrap="square">
            <a:spAutoFit/>
          </a:bodyPr>
          <a:lstStyle/>
          <a:p>
            <a:pPr algn="ctr">
              <a:defRPr sz="2400" b="0" i="0">
                <a:solidFill>
                  <a:srgbClr val="E8E8E8"/>
                </a:solidFill>
                <a:latin typeface="Calibri"/>
              </a:defRPr>
            </a:pPr>
            <a:r>
              <a:t>→</a:t>
            </a:r>
          </a:p>
        </p:txBody>
      </p:sp>
      <p:sp>
        <p:nvSpPr>
          <p:cNvPr id="11" name="Rounded Rectangle 10"/>
          <p:cNvSpPr/>
          <p:nvPr/>
        </p:nvSpPr>
        <p:spPr>
          <a:xfrm>
            <a:off x="7955280" y="1371600"/>
            <a:ext cx="1554480" cy="1371600"/>
          </a:xfrm>
          <a:prstGeom prst="roundRect">
            <a:avLst/>
          </a:prstGeom>
          <a:solidFill>
            <a:srgbClr val="FFB347">
              <a:alpha val="25000"/>
            </a:srgbClr>
          </a:solidFill>
          <a:ln w="254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8E8E8"/>
                </a:solidFill>
                <a:latin typeface="Calibri"/>
              </a:defRPr>
            </a:pPr>
            <a:r>
              <a:t>ITL</a:t>
            </a:r>
            <a:br/>
            <a:r>
              <a:t>14→43ms</a:t>
            </a:r>
          </a:p>
        </p:txBody>
      </p:sp>
      <p:sp>
        <p:nvSpPr>
          <p:cNvPr id="12" name="TextBox 11"/>
          <p:cNvSpPr txBox="1"/>
          <p:nvPr/>
        </p:nvSpPr>
        <p:spPr>
          <a:xfrm>
            <a:off x="9509760" y="1828800"/>
            <a:ext cx="320040" cy="457200"/>
          </a:xfrm>
          <a:prstGeom prst="rect">
            <a:avLst/>
          </a:prstGeom>
          <a:noFill/>
        </p:spPr>
        <p:txBody>
          <a:bodyPr wrap="square">
            <a:spAutoFit/>
          </a:bodyPr>
          <a:lstStyle/>
          <a:p>
            <a:pPr algn="ctr">
              <a:defRPr sz="2400" b="0" i="0">
                <a:solidFill>
                  <a:srgbClr val="E8E8E8"/>
                </a:solidFill>
                <a:latin typeface="Calibri"/>
              </a:defRPr>
            </a:pPr>
            <a:r>
              <a:t>→</a:t>
            </a:r>
          </a:p>
        </p:txBody>
      </p:sp>
      <p:sp>
        <p:nvSpPr>
          <p:cNvPr id="13" name="Rounded Rectangle 12"/>
          <p:cNvSpPr/>
          <p:nvPr/>
        </p:nvSpPr>
        <p:spPr>
          <a:xfrm>
            <a:off x="9829800" y="1371600"/>
            <a:ext cx="1554480" cy="1371600"/>
          </a:xfrm>
          <a:prstGeom prst="roundRect">
            <a:avLst/>
          </a:prstGeom>
          <a:solidFill>
            <a:srgbClr val="FF4444">
              <a:alpha val="25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8E8E8"/>
                </a:solidFill>
                <a:latin typeface="Calibri"/>
              </a:defRPr>
            </a:pPr>
            <a:r>
              <a:t>Alex:</a:t>
            </a:r>
            <a:br/>
            <a:r>
              <a:t>210→482ms</a:t>
            </a:r>
          </a:p>
        </p:txBody>
      </p:sp>
      <p:sp>
        <p:nvSpPr>
          <p:cNvPr id="14" name="TextBox 13"/>
          <p:cNvSpPr txBox="1"/>
          <p:nvPr/>
        </p:nvSpPr>
        <p:spPr>
          <a:xfrm>
            <a:off x="457200" y="3200400"/>
            <a:ext cx="11277295" cy="731520"/>
          </a:xfrm>
          <a:prstGeom prst="rect">
            <a:avLst/>
          </a:prstGeom>
          <a:noFill/>
        </p:spPr>
        <p:txBody>
          <a:bodyPr wrap="square">
            <a:spAutoFit/>
          </a:bodyPr>
          <a:lstStyle/>
          <a:p>
            <a:pPr algn="ctr">
              <a:defRPr sz="2400" b="1" i="0">
                <a:solidFill>
                  <a:srgbClr val="E8E8E8"/>
                </a:solidFill>
                <a:latin typeface="Calibri"/>
              </a:defRPr>
            </a:pPr>
            <a:r>
              <a:t>More renovators × more stuff = slower elevator for everyone</a:t>
            </a:r>
          </a:p>
        </p:txBody>
      </p:sp>
      <p:sp>
        <p:nvSpPr>
          <p:cNvPr id="15" name="Rounded Rectangle 14"/>
          <p:cNvSpPr/>
          <p:nvPr/>
        </p:nvSpPr>
        <p:spPr>
          <a:xfrm>
            <a:off x="457200" y="4206240"/>
            <a:ext cx="11277295" cy="914400"/>
          </a:xfrm>
          <a:prstGeom prst="roundRect">
            <a:avLst/>
          </a:prstGeom>
          <a:solidFill>
            <a:srgbClr val="FF4444">
              <a:alpha val="15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0">
                <a:solidFill>
                  <a:srgbClr val="FF4444"/>
                </a:solidFill>
                <a:latin typeface="Calibri"/>
              </a:defRPr>
            </a:pPr>
            <a:r>
              <a:t>❌ Dashboard: GPU 74%, p99 up → BUILD MORE BUILDINGS</a:t>
            </a:r>
          </a:p>
        </p:txBody>
      </p:sp>
      <p:sp>
        <p:nvSpPr>
          <p:cNvPr id="16" name="Rounded Rectangle 15"/>
          <p:cNvSpPr/>
          <p:nvPr/>
        </p:nvSpPr>
        <p:spPr>
          <a:xfrm>
            <a:off x="457200" y="5303520"/>
            <a:ext cx="11277295" cy="914400"/>
          </a:xfrm>
          <a:prstGeom prst="roundRect">
            <a:avLst/>
          </a:prstGeom>
          <a:solidFill>
            <a:srgbClr val="39FF14">
              <a:alpha val="15000"/>
            </a:srgbClr>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0">
                <a:solidFill>
                  <a:srgbClr val="39FF14"/>
                </a:solidFill>
                <a:latin typeface="Calibri"/>
              </a:defRPr>
            </a:pPr>
            <a:r>
              <a:t>✓ Reality: Cap occupancy. Rehouse renovators. → FEWER NEIGHBOURS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Six Sensors for Your Building</a:t>
            </a:r>
          </a:p>
        </p:txBody>
      </p:sp>
      <p:sp>
        <p:nvSpPr>
          <p:cNvPr id="3" name="TextBox 2"/>
          <p:cNvSpPr txBox="1"/>
          <p:nvPr/>
        </p:nvSpPr>
        <p:spPr>
          <a:xfrm>
            <a:off x="640080" y="1005840"/>
            <a:ext cx="10972800" cy="365760"/>
          </a:xfrm>
          <a:prstGeom prst="rect">
            <a:avLst/>
          </a:prstGeom>
          <a:noFill/>
        </p:spPr>
        <p:txBody>
          <a:bodyPr wrap="square">
            <a:spAutoFit/>
          </a:bodyPr>
          <a:lstStyle/>
          <a:p>
            <a:pPr algn="l">
              <a:defRPr sz="1800" b="0" i="0">
                <a:solidFill>
                  <a:srgbClr val="FFB347"/>
                </a:solidFill>
                <a:latin typeface="Calibri"/>
              </a:defRPr>
            </a:pPr>
            <a:r>
              <a:t>📸 Take a photo of this slide.</a:t>
            </a:r>
          </a:p>
        </p:txBody>
      </p:sp>
      <p:sp>
        <p:nvSpPr>
          <p:cNvPr id="4" name="Rounded Rectangle 3"/>
          <p:cNvSpPr/>
          <p:nvPr/>
        </p:nvSpPr>
        <p:spPr>
          <a:xfrm>
            <a:off x="365760" y="1463040"/>
            <a:ext cx="3566160" cy="1645920"/>
          </a:xfrm>
          <a:prstGeom prst="roundRect">
            <a:avLst/>
          </a:prstGeom>
          <a:no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1">
                <a:solidFill>
                  <a:srgbClr val="00D4FF"/>
                </a:solidFill>
                <a:latin typeface="Calibri"/>
              </a:defRPr>
            </a:pPr>
            <a:r>
              <a:t>🔵 Elevator Wait (TTFT p99)</a:t>
            </a:r>
          </a:p>
          <a:p>
            <a:pPr algn="l">
              <a:spcBef>
                <a:spcPts val="400"/>
              </a:spcBef>
              <a:spcAft>
                <a:spcPts val="0"/>
              </a:spcAft>
              <a:defRPr sz="1100" b="0" i="0">
                <a:solidFill>
                  <a:srgbClr val="39FF14"/>
                </a:solidFill>
                <a:latin typeface="Consolas"/>
              </a:defRPr>
            </a:pPr>
            <a:r>
              <a:t>histogram_quantile(0.99,</a:t>
            </a:r>
            <a:br/>
            <a:r>
              <a:t>  rate(vllm:time_to_first_token_seconds_bucket[5m]))</a:t>
            </a:r>
          </a:p>
          <a:p>
            <a:pPr algn="l">
              <a:spcBef>
                <a:spcPts val="400"/>
              </a:spcBef>
              <a:spcAft>
                <a:spcPts val="0"/>
              </a:spcAft>
              <a:defRPr sz="1200" b="0" i="0">
                <a:solidFill>
                  <a:srgbClr val="E8E8E8"/>
                </a:solidFill>
                <a:latin typeface="Calibri"/>
              </a:defRPr>
            </a:pPr>
            <a:r>
              <a:t>How long to get in?</a:t>
            </a:r>
          </a:p>
        </p:txBody>
      </p:sp>
      <p:sp>
        <p:nvSpPr>
          <p:cNvPr id="5" name="Rounded Rectangle 4"/>
          <p:cNvSpPr/>
          <p:nvPr/>
        </p:nvSpPr>
        <p:spPr>
          <a:xfrm>
            <a:off x="4297680" y="1463040"/>
            <a:ext cx="3566160" cy="1645920"/>
          </a:xfrm>
          <a:prstGeom prst="roundRect">
            <a:avLst/>
          </a:prstGeom>
          <a:solidFill>
            <a:srgbClr val="FFB347">
              <a:alpha val="15000"/>
            </a:srgbClr>
          </a:solidFill>
          <a:ln w="381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1">
                <a:solidFill>
                  <a:srgbClr val="FFB347"/>
                </a:solidFill>
                <a:latin typeface="Calibri"/>
              </a:defRPr>
            </a:pPr>
            <a:r>
              <a:t>🟡 Elevator Speed (ITL p99) — THE SIGNAL</a:t>
            </a:r>
          </a:p>
          <a:p>
            <a:pPr algn="l">
              <a:spcBef>
                <a:spcPts val="400"/>
              </a:spcBef>
              <a:spcAft>
                <a:spcPts val="0"/>
              </a:spcAft>
              <a:defRPr sz="1100" b="0" i="0">
                <a:solidFill>
                  <a:srgbClr val="39FF14"/>
                </a:solidFill>
                <a:latin typeface="Consolas"/>
              </a:defRPr>
            </a:pPr>
            <a:r>
              <a:t>histogram_quantile(0.99,</a:t>
            </a:r>
            <a:br/>
            <a:r>
              <a:t>  rate(vllm:inter_token_latency_seconds_bucket[5m]))</a:t>
            </a:r>
          </a:p>
          <a:p>
            <a:pPr algn="l">
              <a:spcBef>
                <a:spcPts val="400"/>
              </a:spcBef>
              <a:spcAft>
                <a:spcPts val="0"/>
              </a:spcAft>
              <a:defRPr sz="1200" b="0" i="0">
                <a:solidFill>
                  <a:srgbClr val="E8E8E8"/>
                </a:solidFill>
                <a:latin typeface="Calibri"/>
              </a:defRPr>
            </a:pPr>
            <a:r>
              <a:t>How fast does it move?</a:t>
            </a:r>
          </a:p>
        </p:txBody>
      </p:sp>
      <p:sp>
        <p:nvSpPr>
          <p:cNvPr id="6" name="Rounded Rectangle 5"/>
          <p:cNvSpPr/>
          <p:nvPr/>
        </p:nvSpPr>
        <p:spPr>
          <a:xfrm>
            <a:off x="8229600" y="1463040"/>
            <a:ext cx="3566160" cy="1645920"/>
          </a:xfrm>
          <a:prstGeom prst="roundRect">
            <a:avLst/>
          </a:prstGeom>
          <a:noFill/>
          <a:ln w="254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1">
                <a:solidFill>
                  <a:srgbClr val="FFB347"/>
                </a:solidFill>
                <a:latin typeface="Calibri"/>
              </a:defRPr>
            </a:pPr>
            <a:r>
              <a:t>🟠 Storage (KV Cache)</a:t>
            </a:r>
          </a:p>
          <a:p>
            <a:pPr algn="l">
              <a:spcBef>
                <a:spcPts val="400"/>
              </a:spcBef>
              <a:spcAft>
                <a:spcPts val="0"/>
              </a:spcAft>
              <a:defRPr sz="1100" b="0" i="0">
                <a:solidFill>
                  <a:srgbClr val="39FF14"/>
                </a:solidFill>
                <a:latin typeface="Consolas"/>
              </a:defRPr>
            </a:pPr>
            <a:r>
              <a:t>vllm:kv_cache_usage_perc</a:t>
            </a:r>
          </a:p>
          <a:p>
            <a:pPr algn="l">
              <a:spcBef>
                <a:spcPts val="400"/>
              </a:spcBef>
              <a:spcAft>
                <a:spcPts val="0"/>
              </a:spcAft>
              <a:defRPr sz="1200" b="0" i="0">
                <a:solidFill>
                  <a:srgbClr val="E8E8E8"/>
                </a:solidFill>
                <a:latin typeface="Calibri"/>
              </a:defRPr>
            </a:pPr>
            <a:r>
              <a:t>&gt;85% = danger zone</a:t>
            </a:r>
          </a:p>
        </p:txBody>
      </p:sp>
      <p:sp>
        <p:nvSpPr>
          <p:cNvPr id="7" name="Rounded Rectangle 6"/>
          <p:cNvSpPr/>
          <p:nvPr/>
        </p:nvSpPr>
        <p:spPr>
          <a:xfrm>
            <a:off x="365760" y="3291840"/>
            <a:ext cx="3566160" cy="1645920"/>
          </a:xfrm>
          <a:prstGeom prst="roundRect">
            <a:avLst/>
          </a:prstGeom>
          <a:noFill/>
          <a:ln w="25400">
            <a:solidFill>
              <a:srgbClr val="B877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1">
                <a:solidFill>
                  <a:srgbClr val="B877D9"/>
                </a:solidFill>
                <a:latin typeface="Calibri"/>
              </a:defRPr>
            </a:pPr>
            <a:r>
              <a:t>🟣 Shared Storage Hits</a:t>
            </a:r>
          </a:p>
          <a:p>
            <a:pPr algn="l">
              <a:spcBef>
                <a:spcPts val="400"/>
              </a:spcBef>
              <a:spcAft>
                <a:spcPts val="0"/>
              </a:spcAft>
              <a:defRPr sz="1100" b="0" i="0">
                <a:solidFill>
                  <a:srgbClr val="39FF14"/>
                </a:solidFill>
                <a:latin typeface="Consolas"/>
              </a:defRPr>
            </a:pPr>
            <a:r>
              <a:t>rate(vllm:prefix_cache_hits[5m]) /</a:t>
            </a:r>
            <a:br/>
            <a:r>
              <a:t>  rate(vllm:prefix_cache_queries[5m])</a:t>
            </a:r>
          </a:p>
          <a:p>
            <a:pPr algn="l">
              <a:spcBef>
                <a:spcPts val="400"/>
              </a:spcBef>
              <a:spcAft>
                <a:spcPts val="0"/>
              </a:spcAft>
              <a:defRPr sz="1200" b="0" i="0">
                <a:solidFill>
                  <a:srgbClr val="E8E8E8"/>
                </a:solidFill>
                <a:latin typeface="Calibri"/>
              </a:defRPr>
            </a:pPr>
            <a:r>
              <a:t>Re-reading the same mail?</a:t>
            </a:r>
          </a:p>
        </p:txBody>
      </p:sp>
      <p:sp>
        <p:nvSpPr>
          <p:cNvPr id="8" name="Rounded Rectangle 7"/>
          <p:cNvSpPr/>
          <p:nvPr/>
        </p:nvSpPr>
        <p:spPr>
          <a:xfrm>
            <a:off x="4297680" y="3291840"/>
            <a:ext cx="3566160" cy="1645920"/>
          </a:xfrm>
          <a:prstGeom prst="roundRect">
            <a:avLst/>
          </a:prstGeom>
          <a:noFill/>
          <a:ln w="25400">
            <a:solidFill>
              <a:srgbClr val="B877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1">
                <a:solidFill>
                  <a:srgbClr val="B877D9"/>
                </a:solidFill>
                <a:latin typeface="Calibri"/>
              </a:defRPr>
            </a:pPr>
            <a:r>
              <a:t>🟣 Occupancy (Batch)</a:t>
            </a:r>
          </a:p>
          <a:p>
            <a:pPr algn="l">
              <a:spcBef>
                <a:spcPts val="400"/>
              </a:spcBef>
              <a:spcAft>
                <a:spcPts val="0"/>
              </a:spcAft>
              <a:defRPr sz="1100" b="0" i="0">
                <a:solidFill>
                  <a:srgbClr val="39FF14"/>
                </a:solidFill>
                <a:latin typeface="Consolas"/>
              </a:defRPr>
            </a:pPr>
            <a:r>
              <a:t>vllm:num_requests_running</a:t>
            </a:r>
          </a:p>
          <a:p>
            <a:pPr algn="l">
              <a:spcBef>
                <a:spcPts val="400"/>
              </a:spcBef>
              <a:spcAft>
                <a:spcPts val="0"/>
              </a:spcAft>
              <a:defRPr sz="1200" b="0" i="0">
                <a:solidFill>
                  <a:srgbClr val="E8E8E8"/>
                </a:solidFill>
                <a:latin typeface="Calibri"/>
              </a:defRPr>
            </a:pPr>
            <a:r>
              <a:t>How crowded is the building?</a:t>
            </a:r>
          </a:p>
        </p:txBody>
      </p:sp>
      <p:sp>
        <p:nvSpPr>
          <p:cNvPr id="9" name="Rounded Rectangle 8"/>
          <p:cNvSpPr/>
          <p:nvPr/>
        </p:nvSpPr>
        <p:spPr>
          <a:xfrm>
            <a:off x="8229600" y="3291840"/>
            <a:ext cx="3566160" cy="1645920"/>
          </a:xfrm>
          <a:prstGeom prst="roundRect">
            <a:avLst/>
          </a:prstGeom>
          <a:no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300" b="1">
                <a:solidFill>
                  <a:srgbClr val="FF4444"/>
                </a:solidFill>
                <a:latin typeface="Calibri"/>
              </a:defRPr>
            </a:pPr>
            <a:r>
              <a:t>🔴 Power Load (Tensor)</a:t>
            </a:r>
          </a:p>
          <a:p>
            <a:pPr algn="l">
              <a:spcBef>
                <a:spcPts val="400"/>
              </a:spcBef>
              <a:spcAft>
                <a:spcPts val="0"/>
              </a:spcAft>
              <a:defRPr sz="1100" b="0" i="0">
                <a:solidFill>
                  <a:srgbClr val="39FF14"/>
                </a:solidFill>
                <a:latin typeface="Consolas"/>
              </a:defRPr>
            </a:pPr>
            <a:r>
              <a:t>DCGM_FI_PROF_PIPE_TENSOR_ACTIVE</a:t>
            </a:r>
          </a:p>
          <a:p>
            <a:pPr algn="l">
              <a:spcBef>
                <a:spcPts val="400"/>
              </a:spcBef>
              <a:spcAft>
                <a:spcPts val="0"/>
              </a:spcAft>
              <a:defRPr sz="1200" b="0" i="0">
                <a:solidFill>
                  <a:srgbClr val="E8E8E8"/>
                </a:solidFill>
                <a:latin typeface="Calibri"/>
              </a:defRPr>
            </a:pPr>
            <a:r>
              <a:t>Computing or idling?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Three Alarms. Not Thirty.</a:t>
            </a:r>
          </a:p>
        </p:txBody>
      </p:sp>
      <p:sp>
        <p:nvSpPr>
          <p:cNvPr id="3" name="Rounded Rectangle 2"/>
          <p:cNvSpPr/>
          <p:nvPr/>
        </p:nvSpPr>
        <p:spPr>
          <a:xfrm>
            <a:off x="457200" y="1371600"/>
            <a:ext cx="11277295" cy="1280160"/>
          </a:xfrm>
          <a:prstGeom prst="roundRect">
            <a:avLst/>
          </a:prstGeom>
          <a:solidFill>
            <a:srgbClr val="FFB347">
              <a:alpha val="15000"/>
            </a:srgbClr>
          </a:solidFill>
          <a:ln w="254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FFB347"/>
                </a:solidFill>
                <a:latin typeface="Calibri"/>
              </a:defRPr>
            </a:pPr>
            <a:r>
              <a:t>⚠️  Storage &gt; 90% for 2 minutes</a:t>
            </a:r>
          </a:p>
          <a:p>
            <a:pPr algn="l">
              <a:spcBef>
                <a:spcPts val="800"/>
              </a:spcBef>
              <a:spcAft>
                <a:spcPts val="0"/>
              </a:spcAft>
              <a:defRPr sz="2000" b="0" i="0">
                <a:solidFill>
                  <a:srgbClr val="E8E8E8"/>
                </a:solidFill>
                <a:latin typeface="Calibri"/>
              </a:defRPr>
            </a:pPr>
            <a:r>
              <a:t>Evictions imminent. Cap occupancy immediately.</a:t>
            </a:r>
          </a:p>
        </p:txBody>
      </p:sp>
      <p:sp>
        <p:nvSpPr>
          <p:cNvPr id="4" name="Rounded Rectangle 3"/>
          <p:cNvSpPr/>
          <p:nvPr/>
        </p:nvSpPr>
        <p:spPr>
          <a:xfrm>
            <a:off x="457200" y="2926080"/>
            <a:ext cx="11277295" cy="1280160"/>
          </a:xfrm>
          <a:prstGeom prst="roundRect">
            <a:avLst/>
          </a:prstGeom>
          <a:solidFill>
            <a:srgbClr val="FF4444">
              <a:alpha val="15000"/>
            </a:srgbClr>
          </a:solid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FF4444"/>
                </a:solidFill>
                <a:latin typeface="Calibri"/>
              </a:defRPr>
            </a:pPr>
            <a:r>
              <a:t>🚨  Elevator wait &gt; 2s for 5 minutes</a:t>
            </a:r>
          </a:p>
          <a:p>
            <a:pPr algn="l">
              <a:spcBef>
                <a:spcPts val="800"/>
              </a:spcBef>
              <a:spcAft>
                <a:spcPts val="0"/>
              </a:spcAft>
              <a:defRPr sz="2000" b="0" i="0">
                <a:solidFill>
                  <a:srgbClr val="E8E8E8"/>
                </a:solidFill>
                <a:latin typeface="Calibri"/>
              </a:defRPr>
            </a:pPr>
            <a:r>
              <a:t>Tenants banging on doors. Scale or shed load.</a:t>
            </a:r>
          </a:p>
        </p:txBody>
      </p:sp>
      <p:sp>
        <p:nvSpPr>
          <p:cNvPr id="5" name="Rounded Rectangle 4"/>
          <p:cNvSpPr/>
          <p:nvPr/>
        </p:nvSpPr>
        <p:spPr>
          <a:xfrm>
            <a:off x="457200" y="4480560"/>
            <a:ext cx="11277295" cy="1280160"/>
          </a:xfrm>
          <a:prstGeom prst="roundRect">
            <a:avLst/>
          </a:prstGeom>
          <a:solidFill>
            <a:srgbClr val="00D4FF">
              <a:alpha val="15000"/>
            </a:srgbClr>
          </a:solid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00D4FF"/>
                </a:solidFill>
                <a:latin typeface="Calibri"/>
              </a:defRPr>
            </a:pPr>
            <a:r>
              <a:t>📊  Lobby &gt; 0 for 3 minutes</a:t>
            </a:r>
          </a:p>
          <a:p>
            <a:pPr algn="l">
              <a:spcBef>
                <a:spcPts val="800"/>
              </a:spcBef>
              <a:spcAft>
                <a:spcPts val="0"/>
              </a:spcAft>
              <a:defRPr sz="2000" b="0" i="0">
                <a:solidFill>
                  <a:srgbClr val="E8E8E8"/>
                </a:solidFill>
                <a:latin typeface="Calibri"/>
              </a:defRPr>
            </a:pPr>
            <a:r>
              <a:t>Real building shortage. Build more.</a:t>
            </a:r>
          </a:p>
        </p:txBody>
      </p:sp>
      <p:sp>
        <p:nvSpPr>
          <p:cNvPr id="6" name="TextBox 5"/>
          <p:cNvSpPr txBox="1"/>
          <p:nvPr/>
        </p:nvSpPr>
        <p:spPr>
          <a:xfrm>
            <a:off x="457200" y="5943600"/>
            <a:ext cx="11277295" cy="548640"/>
          </a:xfrm>
          <a:prstGeom prst="rect">
            <a:avLst/>
          </a:prstGeom>
          <a:noFill/>
        </p:spPr>
        <p:txBody>
          <a:bodyPr wrap="square">
            <a:spAutoFit/>
          </a:bodyPr>
          <a:lstStyle/>
          <a:p>
            <a:pPr algn="ctr">
              <a:defRPr sz="2400" b="1" i="0">
                <a:solidFill>
                  <a:srgbClr val="39FF14"/>
                </a:solidFill>
                <a:latin typeface="Calibri"/>
              </a:defRPr>
            </a:pPr>
            <a:r>
              <a:t>Three alarms. Not thirty.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Taming the Renovators</a:t>
            </a:r>
          </a:p>
        </p:txBody>
      </p:sp>
      <p:sp>
        <p:nvSpPr>
          <p:cNvPr id="3" name="Rounded Rectangle 2"/>
          <p:cNvSpPr/>
          <p:nvPr/>
        </p:nvSpPr>
        <p:spPr>
          <a:xfrm>
            <a:off x="457200" y="1188720"/>
            <a:ext cx="5394960" cy="2377440"/>
          </a:xfrm>
          <a:prstGeom prst="roundRect">
            <a:avLst/>
          </a:prstGeom>
          <a:noFill/>
          <a:ln w="25400">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00D4FF"/>
                </a:solidFill>
                <a:latin typeface="Calibri"/>
              </a:defRPr>
            </a:pPr>
            <a:r>
              <a:t>1. Occupancy Cap</a:t>
            </a:r>
          </a:p>
          <a:p>
            <a:pPr algn="l">
              <a:spcBef>
                <a:spcPts val="800"/>
              </a:spcBef>
              <a:spcAft>
                <a:spcPts val="0"/>
              </a:spcAft>
              <a:defRPr sz="1800" b="0" i="0">
                <a:solidFill>
                  <a:srgbClr val="39FF14"/>
                </a:solidFill>
                <a:latin typeface="Consolas"/>
              </a:defRPr>
            </a:pPr>
            <a:r>
              <a:t>--max-num-seqs 16</a:t>
            </a:r>
          </a:p>
          <a:p>
            <a:pPr algn="l">
              <a:spcBef>
                <a:spcPts val="800"/>
              </a:spcBef>
              <a:spcAft>
                <a:spcPts val="0"/>
              </a:spcAft>
              <a:defRPr sz="1800" b="0" i="0">
                <a:solidFill>
                  <a:srgbClr val="E8E8E8"/>
                </a:solidFill>
                <a:latin typeface="Calibri"/>
              </a:defRPr>
            </a:pPr>
            <a:r>
              <a:t>Default is 256. Start at 16.</a:t>
            </a:r>
          </a:p>
          <a:p>
            <a:pPr algn="l">
              <a:spcBef>
                <a:spcPts val="400"/>
              </a:spcBef>
              <a:spcAft>
                <a:spcPts val="0"/>
              </a:spcAft>
              <a:defRPr sz="1600" b="0" i="0">
                <a:solidFill>
                  <a:srgbClr val="FFB347"/>
                </a:solidFill>
                <a:latin typeface="Calibri"/>
              </a:defRPr>
            </a:pPr>
            <a:r>
              <a:t>Watch ITL as you tune up.</a:t>
            </a:r>
          </a:p>
        </p:txBody>
      </p:sp>
      <p:sp>
        <p:nvSpPr>
          <p:cNvPr id="4" name="Rounded Rectangle 3"/>
          <p:cNvSpPr/>
          <p:nvPr/>
        </p:nvSpPr>
        <p:spPr>
          <a:xfrm>
            <a:off x="6309360" y="1188720"/>
            <a:ext cx="5394960" cy="2377440"/>
          </a:xfrm>
          <a:prstGeom prst="roundRect">
            <a:avLst/>
          </a:prstGeom>
          <a:noFill/>
          <a:ln w="25400">
            <a:solidFill>
              <a:srgbClr val="B877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B877D9"/>
                </a:solidFill>
                <a:latin typeface="Calibri"/>
              </a:defRPr>
            </a:pPr>
            <a:r>
              <a:t>2. Separate Building</a:t>
            </a:r>
          </a:p>
          <a:p>
            <a:pPr algn="l">
              <a:spcBef>
                <a:spcPts val="800"/>
              </a:spcBef>
              <a:spcAft>
                <a:spcPts val="0"/>
              </a:spcAft>
              <a:defRPr sz="1800" b="0" i="0">
                <a:solidFill>
                  <a:srgbClr val="E8E8E8"/>
                </a:solidFill>
                <a:latin typeface="Calibri"/>
              </a:defRPr>
            </a:pPr>
            <a:r>
              <a:t>Route by estimated output length</a:t>
            </a:r>
          </a:p>
          <a:p>
            <a:pPr algn="l">
              <a:spcBef>
                <a:spcPts val="600"/>
              </a:spcBef>
              <a:spcAft>
                <a:spcPts val="0"/>
              </a:spcAft>
              <a:defRPr sz="1600" b="0" i="0">
                <a:solidFill>
                  <a:srgbClr val="00D4FF"/>
                </a:solidFill>
                <a:latin typeface="Calibri"/>
              </a:defRPr>
            </a:pPr>
            <a:r>
              <a:t>Short requests (&lt;256 tok) → Pool A</a:t>
            </a:r>
          </a:p>
          <a:p>
            <a:pPr algn="l">
              <a:spcBef>
                <a:spcPts val="400"/>
              </a:spcBef>
              <a:spcAft>
                <a:spcPts val="0"/>
              </a:spcAft>
              <a:defRPr sz="1600" b="0" i="0">
                <a:solidFill>
                  <a:srgbClr val="FF4444"/>
                </a:solidFill>
                <a:latin typeface="Calibri"/>
              </a:defRPr>
            </a:pPr>
            <a:r>
              <a:t>Long requests (&gt;256 tok) → Pool B</a:t>
            </a:r>
          </a:p>
        </p:txBody>
      </p:sp>
      <p:sp>
        <p:nvSpPr>
          <p:cNvPr id="5" name="Rounded Rectangle 4"/>
          <p:cNvSpPr/>
          <p:nvPr/>
        </p:nvSpPr>
        <p:spPr>
          <a:xfrm>
            <a:off x="457200" y="2424770532720"/>
            <a:ext cx="5394960" cy="237744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39FF14"/>
                </a:solidFill>
                <a:latin typeface="Calibri"/>
              </a:defRPr>
            </a:pPr>
            <a:r>
              <a:t>3. Shared Storage</a:t>
            </a:r>
          </a:p>
          <a:p>
            <a:pPr algn="l">
              <a:spcBef>
                <a:spcPts val="800"/>
              </a:spcBef>
              <a:spcAft>
                <a:spcPts val="0"/>
              </a:spcAft>
              <a:defRPr sz="1800" b="0" i="0">
                <a:solidFill>
                  <a:srgbClr val="39FF14"/>
                </a:solidFill>
                <a:latin typeface="Consolas"/>
              </a:defRPr>
            </a:pPr>
            <a:r>
              <a:t>--enable-prefix-caching</a:t>
            </a:r>
          </a:p>
          <a:p>
            <a:pPr algn="l">
              <a:spcBef>
                <a:spcPts val="800"/>
              </a:spcBef>
              <a:spcAft>
                <a:spcPts val="0"/>
              </a:spcAft>
              <a:defRPr sz="1800" b="0" i="0">
                <a:solidFill>
                  <a:srgbClr val="E8E8E8"/>
                </a:solidFill>
                <a:latin typeface="Calibri"/>
              </a:defRPr>
            </a:pPr>
            <a:r>
              <a:t>Same system prompt → share the cache</a:t>
            </a:r>
          </a:p>
          <a:p>
            <a:pPr algn="l">
              <a:spcBef>
                <a:spcPts val="400"/>
              </a:spcBef>
              <a:spcAft>
                <a:spcPts val="0"/>
              </a:spcAft>
              <a:defRPr sz="1600" b="0" i="0">
                <a:solidFill>
                  <a:srgbClr val="39FF14"/>
                </a:solidFill>
                <a:latin typeface="Calibri"/>
              </a:defRPr>
            </a:pPr>
            <a:r>
              <a:t>30-50% memory savings</a:t>
            </a:r>
          </a:p>
        </p:txBody>
      </p:sp>
      <p:sp>
        <p:nvSpPr>
          <p:cNvPr id="6" name="Rounded Rectangle 5"/>
          <p:cNvSpPr/>
          <p:nvPr/>
        </p:nvSpPr>
        <p:spPr>
          <a:xfrm>
            <a:off x="6309360" y="2424770532720"/>
            <a:ext cx="5394960" cy="2377440"/>
          </a:xfrm>
          <a:prstGeom prst="roundRect">
            <a:avLst/>
          </a:prstGeom>
          <a:noFill/>
          <a:ln w="254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FFB347"/>
                </a:solidFill>
                <a:latin typeface="Calibri"/>
              </a:defRPr>
            </a:pPr>
            <a:r>
              <a:t>4. Scale on Lobby</a:t>
            </a:r>
          </a:p>
          <a:p>
            <a:pPr algn="l">
              <a:spcBef>
                <a:spcPts val="800"/>
              </a:spcBef>
              <a:spcAft>
                <a:spcPts val="0"/>
              </a:spcAft>
              <a:defRPr sz="1800" b="0" i="0">
                <a:solidFill>
                  <a:srgbClr val="E8E8E8"/>
                </a:solidFill>
                <a:latin typeface="Calibri"/>
              </a:defRPr>
            </a:pPr>
            <a:r>
              <a:t>Lobby count = leading indicator</a:t>
            </a:r>
          </a:p>
          <a:p>
            <a:pPr algn="l">
              <a:spcBef>
                <a:spcPts val="600"/>
              </a:spcBef>
              <a:spcAft>
                <a:spcPts val="0"/>
              </a:spcAft>
              <a:defRPr sz="1800" b="0" i="0">
                <a:solidFill>
                  <a:srgbClr val="E8E8E8"/>
                </a:solidFill>
                <a:latin typeface="Calibri"/>
              </a:defRPr>
            </a:pPr>
            <a:r>
              <a:t>Power usage = lagging indicator</a:t>
            </a:r>
          </a:p>
          <a:p>
            <a:pPr algn="l">
              <a:spcBef>
                <a:spcPts val="400"/>
              </a:spcBef>
              <a:spcAft>
                <a:spcPts val="0"/>
              </a:spcAft>
              <a:defRPr sz="1600" b="0" i="0">
                <a:solidFill>
                  <a:srgbClr val="FFB347"/>
                </a:solidFill>
                <a:latin typeface="Calibri"/>
              </a:defRPr>
            </a:pPr>
            <a:r>
              <a:t>Scale when lobby &gt; 0, not power &gt; 80%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PagedAttention: Why This Works</a:t>
            </a:r>
          </a:p>
        </p:txBody>
      </p:sp>
      <p:sp>
        <p:nvSpPr>
          <p:cNvPr id="3" name="Rounded Rectangle 2"/>
          <p:cNvSpPr/>
          <p:nvPr/>
        </p:nvSpPr>
        <p:spPr>
          <a:xfrm>
            <a:off x="457200" y="1188720"/>
            <a:ext cx="5394960" cy="3657600"/>
          </a:xfrm>
          <a:prstGeom prst="roundRect">
            <a:avLst/>
          </a:prstGeom>
          <a:no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F4444"/>
                </a:solidFill>
                <a:latin typeface="Calibri"/>
              </a:defRPr>
            </a:pPr>
            <a:r>
              <a:t>Before</a:t>
            </a:r>
          </a:p>
          <a:p>
            <a:pPr algn="l">
              <a:spcBef>
                <a:spcPts val="0"/>
              </a:spcBef>
              <a:spcAft>
                <a:spcPts val="0"/>
              </a:spcAft>
              <a:defRPr sz="600" b="0" i="0">
                <a:solidFill>
                  <a:srgbClr val="E8E8E8"/>
                </a:solidFill>
                <a:latin typeface="Calibri"/>
              </a:defRPr>
            </a:pPr>
          </a:p>
          <a:p>
            <a:pPr algn="l">
              <a:spcBef>
                <a:spcPts val="800"/>
              </a:spcBef>
              <a:spcAft>
                <a:spcPts val="0"/>
              </a:spcAft>
              <a:defRPr sz="2000" b="0" i="0">
                <a:solidFill>
                  <a:srgbClr val="E8E8E8"/>
                </a:solidFill>
                <a:latin typeface="Calibri"/>
              </a:defRPr>
            </a:pPr>
            <a:r>
              <a:t>Contiguous memory allocation</a:t>
            </a:r>
          </a:p>
          <a:p>
            <a:pPr algn="l">
              <a:spcBef>
                <a:spcPts val="800"/>
              </a:spcBef>
              <a:spcAft>
                <a:spcPts val="0"/>
              </a:spcAft>
              <a:defRPr sz="2000" b="0" i="0">
                <a:solidFill>
                  <a:srgbClr val="E8E8E8"/>
                </a:solidFill>
                <a:latin typeface="Calibri"/>
              </a:defRPr>
            </a:pPr>
            <a:r>
              <a:t>Pre-reserve max context per request</a:t>
            </a:r>
          </a:p>
          <a:p>
            <a:pPr algn="l">
              <a:spcBef>
                <a:spcPts val="1200"/>
              </a:spcBef>
              <a:spcAft>
                <a:spcPts val="0"/>
              </a:spcAft>
              <a:defRPr sz="2200" b="1" i="0">
                <a:solidFill>
                  <a:srgbClr val="FF4444"/>
                </a:solidFill>
                <a:latin typeface="Calibri"/>
              </a:defRPr>
            </a:pPr>
            <a:r>
              <a:t>60-80% of allocated memory WASTED</a:t>
            </a:r>
          </a:p>
          <a:p>
            <a:pPr algn="l">
              <a:spcBef>
                <a:spcPts val="800"/>
              </a:spcBef>
              <a:spcAft>
                <a:spcPts val="0"/>
              </a:spcAft>
              <a:defRPr sz="1800" b="0" i="0">
                <a:solidFill>
                  <a:srgbClr val="E8E8E8"/>
                </a:solidFill>
                <a:latin typeface="Calibri"/>
              </a:defRPr>
            </a:pPr>
            <a:r>
              <a:t>Can't do continuous batching efficiently</a:t>
            </a:r>
          </a:p>
        </p:txBody>
      </p:sp>
      <p:sp>
        <p:nvSpPr>
          <p:cNvPr id="4" name="Rounded Rectangle 3"/>
          <p:cNvSpPr/>
          <p:nvPr/>
        </p:nvSpPr>
        <p:spPr>
          <a:xfrm>
            <a:off x="6309360" y="1188720"/>
            <a:ext cx="5394960" cy="365760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39FF14"/>
                </a:solidFill>
                <a:latin typeface="Calibri"/>
              </a:defRPr>
            </a:pPr>
            <a:r>
              <a:t>After (vLLM)</a:t>
            </a:r>
          </a:p>
          <a:p>
            <a:pPr algn="l">
              <a:spcBef>
                <a:spcPts val="0"/>
              </a:spcBef>
              <a:spcAft>
                <a:spcPts val="0"/>
              </a:spcAft>
              <a:defRPr sz="600" b="0" i="0">
                <a:solidFill>
                  <a:srgbClr val="E8E8E8"/>
                </a:solidFill>
                <a:latin typeface="Calibri"/>
              </a:defRPr>
            </a:pPr>
          </a:p>
          <a:p>
            <a:pPr algn="l">
              <a:spcBef>
                <a:spcPts val="800"/>
              </a:spcBef>
              <a:spcAft>
                <a:spcPts val="0"/>
              </a:spcAft>
              <a:defRPr sz="2000" b="0" i="0">
                <a:solidFill>
                  <a:srgbClr val="E8E8E8"/>
                </a:solidFill>
                <a:latin typeface="Calibri"/>
              </a:defRPr>
            </a:pPr>
            <a:r>
              <a:t>Virtual memory-style paging</a:t>
            </a:r>
          </a:p>
          <a:p>
            <a:pPr algn="l">
              <a:spcBef>
                <a:spcPts val="800"/>
              </a:spcBef>
              <a:spcAft>
                <a:spcPts val="0"/>
              </a:spcAft>
              <a:defRPr sz="2000" b="0" i="0">
                <a:solidFill>
                  <a:srgbClr val="E8E8E8"/>
                </a:solidFill>
                <a:latin typeface="Calibri"/>
              </a:defRPr>
            </a:pPr>
            <a:r>
              <a:t>Fixed-size blocks allocated on demand</a:t>
            </a:r>
          </a:p>
          <a:p>
            <a:pPr algn="l">
              <a:spcBef>
                <a:spcPts val="1200"/>
              </a:spcBef>
              <a:spcAft>
                <a:spcPts val="0"/>
              </a:spcAft>
              <a:defRPr sz="2200" b="1" i="0">
                <a:solidFill>
                  <a:srgbClr val="39FF14"/>
                </a:solidFill>
                <a:latin typeface="Calibri"/>
              </a:defRPr>
            </a:pPr>
            <a:r>
              <a:t>Near-zero waste</a:t>
            </a:r>
          </a:p>
          <a:p>
            <a:pPr algn="l">
              <a:spcBef>
                <a:spcPts val="800"/>
              </a:spcBef>
              <a:spcAft>
                <a:spcPts val="0"/>
              </a:spcAft>
              <a:defRPr sz="1800" b="0" i="0">
                <a:solidFill>
                  <a:srgbClr val="E8E8E8"/>
                </a:solidFill>
                <a:latin typeface="Calibri"/>
              </a:defRPr>
            </a:pPr>
            <a:r>
              <a:t>Enables dynamic slot-filling</a:t>
            </a:r>
          </a:p>
        </p:txBody>
      </p:sp>
      <p:sp>
        <p:nvSpPr>
          <p:cNvPr id="5" name="TextBox 4"/>
          <p:cNvSpPr txBox="1"/>
          <p:nvPr/>
        </p:nvSpPr>
        <p:spPr>
          <a:xfrm>
            <a:off x="457200" y="5303520"/>
            <a:ext cx="11277295" cy="457200"/>
          </a:xfrm>
          <a:prstGeom prst="rect">
            <a:avLst/>
          </a:prstGeom>
          <a:noFill/>
        </p:spPr>
        <p:txBody>
          <a:bodyPr wrap="square">
            <a:spAutoFit/>
          </a:bodyPr>
          <a:lstStyle/>
          <a:p>
            <a:pPr algn="ctr">
              <a:defRPr sz="1600" b="0" i="0">
                <a:solidFill>
                  <a:srgbClr val="00D4FF"/>
                </a:solidFill>
                <a:latin typeface="Calibri"/>
              </a:defRPr>
            </a:pPr>
            <a:r>
              <a:t>🔗 Interactive visualization: understandingdata.com/ai-engineering-visualised/kv-cache/</a:t>
            </a:r>
          </a:p>
        </p:txBody>
      </p:sp>
      <p:sp>
        <p:nvSpPr>
          <p:cNvPr id="6" name="TextBox 5"/>
          <p:cNvSpPr txBox="1"/>
          <p:nvPr/>
        </p:nvSpPr>
        <p:spPr>
          <a:xfrm>
            <a:off x="457200" y="5760720"/>
            <a:ext cx="11277295" cy="365760"/>
          </a:xfrm>
          <a:prstGeom prst="rect">
            <a:avLst/>
          </a:prstGeom>
          <a:noFill/>
        </p:spPr>
        <p:txBody>
          <a:bodyPr wrap="square">
            <a:spAutoFit/>
          </a:bodyPr>
          <a:lstStyle/>
          <a:p>
            <a:pPr algn="ctr">
              <a:defRPr sz="1400" b="0" i="0">
                <a:solidFill>
                  <a:srgbClr val="888888"/>
                </a:solidFill>
                <a:latin typeface="Calibri"/>
              </a:defRPr>
            </a:pPr>
            <a:r>
              <a:t>Credit: James Phoenix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Advanced: Disaggregate Prefill &amp; Decode</a:t>
            </a:r>
          </a:p>
        </p:txBody>
      </p:sp>
      <p:sp>
        <p:nvSpPr>
          <p:cNvPr id="3" name="Rounded Rectangle 2"/>
          <p:cNvSpPr/>
          <p:nvPr/>
        </p:nvSpPr>
        <p:spPr>
          <a:xfrm>
            <a:off x="457200" y="1188720"/>
            <a:ext cx="5394960" cy="4114800"/>
          </a:xfrm>
          <a:prstGeom prst="roundRect">
            <a:avLst/>
          </a:prstGeom>
          <a:noFill/>
          <a:ln w="25400">
            <a:solidFill>
              <a:srgbClr val="FF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FF4444"/>
                </a:solidFill>
                <a:latin typeface="Calibri"/>
              </a:defRPr>
            </a:pPr>
            <a:r>
              <a:t>The Conflict</a:t>
            </a:r>
          </a:p>
          <a:p>
            <a:pPr algn="l">
              <a:spcBef>
                <a:spcPts val="0"/>
              </a:spcBef>
              <a:spcAft>
                <a:spcPts val="0"/>
              </a:spcAft>
              <a:defRPr sz="600" b="0" i="0">
                <a:solidFill>
                  <a:srgbClr val="E8E8E8"/>
                </a:solidFill>
                <a:latin typeface="Calibri"/>
              </a:defRPr>
            </a:pPr>
          </a:p>
          <a:p>
            <a:pPr algn="l">
              <a:spcBef>
                <a:spcPts val="1000"/>
              </a:spcBef>
              <a:spcAft>
                <a:spcPts val="0"/>
              </a:spcAft>
              <a:defRPr sz="2000" b="0" i="0">
                <a:solidFill>
                  <a:srgbClr val="E8E8E8"/>
                </a:solidFill>
                <a:latin typeface="Calibri"/>
              </a:defRPr>
            </a:pPr>
            <a:r>
              <a:t>Prefill = compute-heavy (GPU goes brrrr)</a:t>
            </a:r>
          </a:p>
          <a:p>
            <a:pPr algn="l">
              <a:spcBef>
                <a:spcPts val="1000"/>
              </a:spcBef>
              <a:spcAft>
                <a:spcPts val="0"/>
              </a:spcAft>
              <a:defRPr sz="2000" b="0" i="0">
                <a:solidFill>
                  <a:srgbClr val="E8E8E8"/>
                </a:solidFill>
                <a:latin typeface="Calibri"/>
              </a:defRPr>
            </a:pPr>
            <a:r>
              <a:t>Decode = memory-heavy (GPU waits)</a:t>
            </a:r>
          </a:p>
          <a:p>
            <a:pPr algn="l">
              <a:spcBef>
                <a:spcPts val="1200"/>
              </a:spcBef>
              <a:spcAft>
                <a:spcPts val="0"/>
              </a:spcAft>
              <a:defRPr sz="1800" b="0" i="0">
                <a:solidFill>
                  <a:srgbClr val="FF4444"/>
                </a:solidFill>
                <a:latin typeface="Calibri"/>
              </a:defRPr>
            </a:pPr>
            <a:r>
              <a:t>Running both on same GPU → head-of-line blocking</a:t>
            </a:r>
          </a:p>
          <a:p>
            <a:pPr algn="l">
              <a:spcBef>
                <a:spcPts val="800"/>
              </a:spcBef>
              <a:spcAft>
                <a:spcPts val="0"/>
              </a:spcAft>
              <a:defRPr sz="1800" b="0" i="0">
                <a:solidFill>
                  <a:srgbClr val="FF4444"/>
                </a:solidFill>
                <a:latin typeface="Calibri"/>
              </a:defRPr>
            </a:pPr>
            <a:r>
              <a:t>Blake's prefill starves Alex's decode</a:t>
            </a:r>
          </a:p>
        </p:txBody>
      </p:sp>
      <p:sp>
        <p:nvSpPr>
          <p:cNvPr id="4" name="Rounded Rectangle 3"/>
          <p:cNvSpPr/>
          <p:nvPr/>
        </p:nvSpPr>
        <p:spPr>
          <a:xfrm>
            <a:off x="6309360" y="1188720"/>
            <a:ext cx="5394960" cy="4114800"/>
          </a:xfrm>
          <a:prstGeom prst="roundRect">
            <a:avLst/>
          </a:prstGeom>
          <a:no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400" b="1">
                <a:solidFill>
                  <a:srgbClr val="39FF14"/>
                </a:solidFill>
                <a:latin typeface="Calibri"/>
              </a:defRPr>
            </a:pPr>
            <a:r>
              <a:t>The Fix</a:t>
            </a:r>
          </a:p>
          <a:p>
            <a:pPr algn="l">
              <a:spcBef>
                <a:spcPts val="0"/>
              </a:spcBef>
              <a:spcAft>
                <a:spcPts val="0"/>
              </a:spcAft>
              <a:defRPr sz="600" b="0" i="0">
                <a:solidFill>
                  <a:srgbClr val="E8E8E8"/>
                </a:solidFill>
                <a:latin typeface="Calibri"/>
              </a:defRPr>
            </a:pPr>
          </a:p>
          <a:p>
            <a:pPr algn="l">
              <a:spcBef>
                <a:spcPts val="1000"/>
              </a:spcBef>
              <a:spcAft>
                <a:spcPts val="0"/>
              </a:spcAft>
              <a:defRPr sz="2000" b="0" i="0">
                <a:solidFill>
                  <a:srgbClr val="E8E8E8"/>
                </a:solidFill>
                <a:latin typeface="Calibri"/>
              </a:defRPr>
            </a:pPr>
            <a:r>
              <a:t>Prefill workers ← dedicated pool</a:t>
            </a:r>
          </a:p>
          <a:p>
            <a:pPr algn="l">
              <a:spcBef>
                <a:spcPts val="1000"/>
              </a:spcBef>
              <a:spcAft>
                <a:spcPts val="0"/>
              </a:spcAft>
              <a:defRPr sz="2000" b="0" i="0">
                <a:solidFill>
                  <a:srgbClr val="E8E8E8"/>
                </a:solidFill>
                <a:latin typeface="Calibri"/>
              </a:defRPr>
            </a:pPr>
            <a:r>
              <a:t>Decode workers ← dedicated pool</a:t>
            </a:r>
          </a:p>
          <a:p>
            <a:pPr algn="l">
              <a:spcBef>
                <a:spcPts val="1200"/>
              </a:spcBef>
              <a:spcAft>
                <a:spcPts val="0"/>
              </a:spcAft>
              <a:defRPr sz="1800" b="0" i="0">
                <a:solidFill>
                  <a:srgbClr val="39FF14"/>
                </a:solidFill>
                <a:latin typeface="Calibri"/>
              </a:defRPr>
            </a:pPr>
            <a:r>
              <a:t>TTFT stays fast (prefill not blocked)</a:t>
            </a:r>
          </a:p>
          <a:p>
            <a:pPr algn="l">
              <a:spcBef>
                <a:spcPts val="800"/>
              </a:spcBef>
              <a:spcAft>
                <a:spcPts val="0"/>
              </a:spcAft>
              <a:defRPr sz="1800" b="0" i="0">
                <a:solidFill>
                  <a:srgbClr val="39FF14"/>
                </a:solidFill>
                <a:latin typeface="Calibri"/>
              </a:defRPr>
            </a:pPr>
            <a:r>
              <a:t>ITL stays stable (decode not starved)</a:t>
            </a:r>
          </a:p>
        </p:txBody>
      </p:sp>
      <p:sp>
        <p:nvSpPr>
          <p:cNvPr id="5" name="TextBox 4"/>
          <p:cNvSpPr txBox="1"/>
          <p:nvPr/>
        </p:nvSpPr>
        <p:spPr>
          <a:xfrm>
            <a:off x="457200" y="5669280"/>
            <a:ext cx="11277295" cy="548640"/>
          </a:xfrm>
          <a:prstGeom prst="rect">
            <a:avLst/>
          </a:prstGeom>
          <a:noFill/>
        </p:spPr>
        <p:txBody>
          <a:bodyPr wrap="square">
            <a:spAutoFit/>
          </a:bodyPr>
          <a:lstStyle/>
          <a:p>
            <a:pPr algn="ctr">
              <a:defRPr sz="1800" b="0" i="0">
                <a:solidFill>
                  <a:srgbClr val="888888"/>
                </a:solidFill>
                <a:latin typeface="Calibri"/>
              </a:defRPr>
            </a:pPr>
            <a:r>
              <a:t>Emerging pattern in TensorRT-LLM, Sarathi-Serve, Splitwise. Watch this space.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Monday Morning</a:t>
            </a:r>
          </a:p>
        </p:txBody>
      </p:sp>
      <p:sp>
        <p:nvSpPr>
          <p:cNvPr id="3" name="TextBox 2"/>
          <p:cNvSpPr txBox="1"/>
          <p:nvPr/>
        </p:nvSpPr>
        <p:spPr>
          <a:xfrm>
            <a:off x="914400" y="1280160"/>
            <a:ext cx="10362895" cy="4389120"/>
          </a:xfrm>
          <a:prstGeom prst="rect">
            <a:avLst/>
          </a:prstGeom>
          <a:noFill/>
        </p:spPr>
        <p:txBody>
          <a:bodyPr wrap="square">
            <a:spAutoFit/>
          </a:bodyPr>
          <a:lstStyle/>
          <a:p>
            <a:pPr algn="l">
              <a:defRPr sz="2200" b="0" i="0">
                <a:solidFill>
                  <a:srgbClr val="E8E8E8"/>
                </a:solidFill>
                <a:latin typeface="Calibri"/>
              </a:defRPr>
            </a:pPr>
            <a:r>
              <a:t>□  Install elevator sensors → vLLM /metrics to Prometheus</a:t>
            </a:r>
          </a:p>
          <a:p>
            <a:pPr algn="l">
              <a:spcBef>
                <a:spcPts val="1800"/>
              </a:spcBef>
              <a:spcAft>
                <a:spcPts val="0"/>
              </a:spcAft>
              <a:defRPr sz="2200" b="0" i="0">
                <a:solidFill>
                  <a:srgbClr val="E8E8E8"/>
                </a:solidFill>
                <a:latin typeface="Calibri"/>
              </a:defRPr>
            </a:pPr>
            <a:r>
              <a:t>□  Install power monitors → DCGM Exporter on GPU nodes</a:t>
            </a:r>
          </a:p>
          <a:p>
            <a:pPr algn="l">
              <a:spcBef>
                <a:spcPts val="1800"/>
              </a:spcBef>
              <a:spcAft>
                <a:spcPts val="0"/>
              </a:spcAft>
              <a:defRPr sz="2200" b="0" i="0">
                <a:solidFill>
                  <a:srgbClr val="E8E8E8"/>
                </a:solidFill>
                <a:latin typeface="Calibri"/>
              </a:defRPr>
            </a:pPr>
            <a:r>
              <a:t>□  Build the 6-sensor dashboard (slide 16)</a:t>
            </a:r>
          </a:p>
          <a:p>
            <a:pPr algn="l">
              <a:spcBef>
                <a:spcPts val="1800"/>
              </a:spcBef>
              <a:spcAft>
                <a:spcPts val="0"/>
              </a:spcAft>
              <a:defRPr sz="2200" b="0" i="0">
                <a:solidFill>
                  <a:srgbClr val="E8E8E8"/>
                </a:solidFill>
                <a:latin typeface="Calibri"/>
              </a:defRPr>
            </a:pPr>
            <a:r>
              <a:t>□  Set the 3 alarms (slide 17)</a:t>
            </a:r>
          </a:p>
          <a:p>
            <a:pPr algn="l">
              <a:spcBef>
                <a:spcPts val="1800"/>
              </a:spcBef>
              <a:spcAft>
                <a:spcPts val="0"/>
              </a:spcAft>
              <a:defRPr sz="2200" b="0" i="0">
                <a:solidFill>
                  <a:srgbClr val="E8E8E8"/>
                </a:solidFill>
                <a:latin typeface="Calibri"/>
              </a:defRPr>
            </a:pPr>
            <a:r>
              <a:t>□  Set occupancy cap → --max-num-seqs 16, watch ITL</a:t>
            </a:r>
          </a:p>
          <a:p>
            <a:pPr algn="l">
              <a:spcBef>
                <a:spcPts val="1800"/>
              </a:spcBef>
              <a:spcAft>
                <a:spcPts val="0"/>
              </a:spcAft>
              <a:defRPr sz="2200" b="0" i="0">
                <a:solidFill>
                  <a:srgbClr val="E8E8E8"/>
                </a:solidFill>
                <a:latin typeface="Calibri"/>
              </a:defRPr>
            </a:pPr>
            <a:r>
              <a:t>□  Enable shared storage → --enable-prefix-caching</a:t>
            </a:r>
          </a:p>
        </p:txBody>
      </p:sp>
      <p:sp>
        <p:nvSpPr>
          <p:cNvPr id="4" name="Rounded Rectangle 3"/>
          <p:cNvSpPr/>
          <p:nvPr/>
        </p:nvSpPr>
        <p:spPr>
          <a:xfrm>
            <a:off x="457200" y="5303520"/>
            <a:ext cx="11277295" cy="914400"/>
          </a:xfrm>
          <a:prstGeom prst="roundRect">
            <a:avLst/>
          </a:prstGeom>
          <a:solidFill>
            <a:srgbClr val="39FF14">
              <a:alpha val="15000"/>
            </a:srgbClr>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39FF14"/>
                </a:solidFill>
                <a:latin typeface="Calibri"/>
              </a:defRPr>
            </a:pPr>
            <a:r>
              <a:t>2-4 hours to install. 50-70% fewer complaints on mixed-tenant buildings.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1371600" y="1828800"/>
            <a:ext cx="9448495" cy="3657600"/>
          </a:xfrm>
          <a:prstGeom prst="rect">
            <a:avLst/>
          </a:prstGeom>
          <a:noFill/>
        </p:spPr>
        <p:txBody>
          <a:bodyPr wrap="square">
            <a:spAutoFit/>
          </a:bodyPr>
          <a:lstStyle/>
          <a:p>
            <a:pPr algn="ctr">
              <a:defRPr sz="2800" b="0" i="0">
                <a:solidFill>
                  <a:srgbClr val="E8E8E8"/>
                </a:solidFill>
                <a:latin typeface="Calibri"/>
              </a:defRPr>
            </a:pPr>
            <a:r>
              <a:t>Next time your LLM p99 spikes...</a:t>
            </a:r>
          </a:p>
          <a:p>
            <a:pPr algn="l">
              <a:spcBef>
                <a:spcPts val="0"/>
              </a:spcBef>
              <a:spcAft>
                <a:spcPts val="0"/>
              </a:spcAft>
              <a:defRPr sz="2000" b="0" i="0">
                <a:solidFill>
                  <a:srgbClr val="E8E8E8"/>
                </a:solidFill>
                <a:latin typeface="Calibri"/>
              </a:defRPr>
            </a:pPr>
          </a:p>
          <a:p>
            <a:pPr algn="ctr">
              <a:spcBef>
                <a:spcPts val="1200"/>
              </a:spcBef>
              <a:spcAft>
                <a:spcPts val="0"/>
              </a:spcAft>
              <a:defRPr sz="2800" b="1" i="0">
                <a:solidFill>
                  <a:srgbClr val="FF4444"/>
                </a:solidFill>
                <a:latin typeface="Calibri"/>
              </a:defRPr>
            </a:pPr>
            <a:r>
              <a:t>don't ask 'which tenant is slow?'</a:t>
            </a:r>
          </a:p>
          <a:p>
            <a:pPr algn="l">
              <a:spcBef>
                <a:spcPts val="0"/>
              </a:spcBef>
              <a:spcAft>
                <a:spcPts val="0"/>
              </a:spcAft>
              <a:defRPr sz="2000" b="0" i="0">
                <a:solidFill>
                  <a:srgbClr val="E8E8E8"/>
                </a:solidFill>
                <a:latin typeface="Calibri"/>
              </a:defRPr>
            </a:pPr>
          </a:p>
          <a:p>
            <a:pPr algn="ctr">
              <a:spcBef>
                <a:spcPts val="1200"/>
              </a:spcBef>
              <a:spcAft>
                <a:spcPts val="0"/>
              </a:spcAft>
              <a:defRPr sz="3200" b="1" i="0">
                <a:solidFill>
                  <a:srgbClr val="39FF14"/>
                </a:solidFill>
                <a:latin typeface="Calibri"/>
              </a:defRPr>
            </a:pPr>
            <a:r>
              <a:t>Ask: 'who else is in the building?'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640080" y="274320"/>
            <a:ext cx="10972800" cy="731520"/>
          </a:xfrm>
          <a:prstGeom prst="rect">
            <a:avLst/>
          </a:prstGeom>
          <a:noFill/>
        </p:spPr>
        <p:txBody>
          <a:bodyPr wrap="square">
            <a:spAutoFit/>
          </a:bodyPr>
          <a:lstStyle/>
          <a:p>
            <a:pPr algn="l">
              <a:defRPr sz="3600" b="1" i="0">
                <a:solidFill>
                  <a:srgbClr val="E8E8E8"/>
                </a:solidFill>
                <a:latin typeface="Calibri"/>
              </a:defRPr>
            </a:pPr>
            <a:r>
              <a:t>Resources</a:t>
            </a:r>
          </a:p>
        </p:txBody>
      </p:sp>
      <p:sp>
        <p:nvSpPr>
          <p:cNvPr id="3" name="TextBox 2"/>
          <p:cNvSpPr txBox="1"/>
          <p:nvPr/>
        </p:nvSpPr>
        <p:spPr>
          <a:xfrm>
            <a:off x="640080" y="1188720"/>
            <a:ext cx="10972800" cy="4572000"/>
          </a:xfrm>
          <a:prstGeom prst="rect">
            <a:avLst/>
          </a:prstGeom>
          <a:noFill/>
        </p:spPr>
        <p:txBody>
          <a:bodyPr wrap="square">
            <a:spAutoFit/>
          </a:bodyPr>
          <a:lstStyle/>
          <a:p>
            <a:r>
              <a:rPr sz="2200">
                <a:solidFill>
                  <a:srgbClr val="00D4FF"/>
                </a:solidFill>
                <a:latin typeface="Calibri"/>
              </a:rPr>
              <a:t>📊  Dashboard &amp; Demo  </a:t>
            </a:r>
            <a:r>
              <a:rPr sz="1800">
                <a:solidFill>
                  <a:srgbClr val="00D4FF"/>
                </a:solidFill>
                <a:latin typeface="Calibri"/>
              </a:rPr>
              <a:t>github.com/Sagar2366/gpu-noisy-neighbour</a:t>
            </a:r>
          </a:p>
          <a:p>
            <a:pPr>
              <a:spcBef>
                <a:spcPts val="1000"/>
              </a:spcBef>
            </a:pPr>
            <a:r>
              <a:rPr sz="2200">
                <a:solidFill>
                  <a:srgbClr val="00D4FF"/>
                </a:solidFill>
                <a:latin typeface="Calibri"/>
              </a:rPr>
              <a:t>🎥  KV Cache Visual  </a:t>
            </a:r>
            <a:r>
              <a:rPr sz="1800">
                <a:solidFill>
                  <a:srgbClr val="00D4FF"/>
                </a:solidFill>
                <a:latin typeface="Calibri"/>
              </a:rPr>
              <a:t>understandingdata.com/ai-engineering-visualised/kv-cache/</a:t>
            </a:r>
          </a:p>
          <a:p>
            <a:pPr>
              <a:spcBef>
                <a:spcPts val="1000"/>
              </a:spcBef>
            </a:pPr>
            <a:r>
              <a:rPr sz="2200">
                <a:solidFill>
                  <a:srgbClr val="00D4FF"/>
                </a:solidFill>
                <a:latin typeface="Calibri"/>
              </a:rPr>
              <a:t>🎥  Prefill/Decode Visual  </a:t>
            </a:r>
            <a:r>
              <a:rPr sz="1800">
                <a:solidFill>
                  <a:srgbClr val="00D4FF"/>
                </a:solidFill>
                <a:latin typeface="Calibri"/>
              </a:rPr>
              <a:t>understandingdata.com/ai-engineering-visualised/prefill-decode/</a:t>
            </a:r>
          </a:p>
          <a:p>
            <a:pPr>
              <a:spcBef>
                <a:spcPts val="1000"/>
              </a:spcBef>
            </a:pPr>
            <a:r>
              <a:rPr sz="2200">
                <a:solidFill>
                  <a:srgbClr val="E8E8E8"/>
                </a:solidFill>
                <a:latin typeface="Calibri"/>
              </a:rPr>
              <a:t>📄  PagedAttention Paper  </a:t>
            </a:r>
            <a:r>
              <a:rPr sz="1800">
                <a:solidFill>
                  <a:srgbClr val="00D4FF"/>
                </a:solidFill>
                <a:latin typeface="Calibri"/>
              </a:rPr>
              <a:t>arxiv.org/abs/2309.06180</a:t>
            </a:r>
          </a:p>
          <a:p>
            <a:pPr>
              <a:spcBef>
                <a:spcPts val="1000"/>
              </a:spcBef>
            </a:pPr>
            <a:r>
              <a:rPr sz="2200">
                <a:solidFill>
                  <a:srgbClr val="E8E8E8"/>
                </a:solidFill>
                <a:latin typeface="Calibri"/>
              </a:rPr>
              <a:t>📄  Orca Paper  </a:t>
            </a:r>
            <a:r>
              <a:rPr sz="1800">
                <a:solidFill>
                  <a:srgbClr val="00D4FF"/>
                </a:solidFill>
                <a:latin typeface="Calibri"/>
              </a:rPr>
              <a:t>arxiv.org/abs/2206.00364</a:t>
            </a:r>
          </a:p>
          <a:p>
            <a:pPr>
              <a:spcBef>
                <a:spcPts val="1000"/>
              </a:spcBef>
            </a:pPr>
            <a:r>
              <a:rPr sz="2200">
                <a:solidFill>
                  <a:srgbClr val="E8E8E8"/>
                </a:solidFill>
                <a:latin typeface="Calibri"/>
              </a:rPr>
              <a:t>📄  Continuous Batching Explainer  </a:t>
            </a:r>
            <a:r>
              <a:rPr sz="1800">
                <a:solidFill>
                  <a:srgbClr val="00D4FF"/>
                </a:solidFill>
                <a:latin typeface="Calibri"/>
              </a:rPr>
              <a:t>pub.towardsai.net — Vedanti</a:t>
            </a:r>
          </a:p>
          <a:p>
            <a:pPr>
              <a:spcBef>
                <a:spcPts val="2400"/>
              </a:spcBef>
            </a:pPr>
            <a:r>
              <a:rPr sz="2200">
                <a:solidFill>
                  <a:srgbClr val="00D4FF"/>
                </a:solidFill>
                <a:latin typeface="Calibri"/>
              </a:rPr>
              <a:t>🐦  @SaijUtekar</a:t>
            </a:r>
          </a:p>
          <a:p>
            <a:pPr>
              <a:spcBef>
                <a:spcPts val="1600"/>
              </a:spcBef>
            </a:pPr>
            <a:r>
              <a:rPr sz="1600">
                <a:solidFill>
                  <a:srgbClr val="888888"/>
                </a:solidFill>
                <a:latin typeface="Calibri"/>
              </a:rPr>
              <a:t>Animations credit: James Phoenix / understandingdata.com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E27"/>
        </a:solidFill>
        <a:effectLst/>
      </p:bgPr>
    </p:bg>
    <p:spTree>
      <p:nvGrpSpPr>
        <p:cNvPr id="1" name=""/>
        <p:cNvGrpSpPr/>
        <p:nvPr/>
      </p:nvGrpSpPr>
      <p:grpSpPr/>
      <p:sp>
        <p:nvSpPr>
          <p:cNvPr id="2" name="TextBox 1"/>
          <p:cNvSpPr txBox="1"/>
          <p:nvPr/>
        </p:nvSpPr>
        <p:spPr>
          <a:xfrm>
            <a:off x="1371600" y="1828800"/>
            <a:ext cx="9448495" cy="3200400"/>
          </a:xfrm>
          <a:prstGeom prst="rect">
            <a:avLst/>
          </a:prstGeom>
          <a:noFill/>
        </p:spPr>
        <p:txBody>
          <a:bodyPr wrap="square">
            <a:spAutoFit/>
          </a:bodyPr>
          <a:lstStyle/>
          <a:p>
            <a:pPr algn="ctr">
              <a:defRPr sz="6000" b="1" i="0">
                <a:solidFill>
                  <a:srgbClr val="00D4FF"/>
                </a:solidFill>
                <a:latin typeface="Calibri"/>
              </a:defRPr>
            </a:pPr>
            <a:r>
              <a:t>Q &amp; A</a:t>
            </a:r>
          </a:p>
          <a:p>
            <a:pPr algn="l">
              <a:spcBef>
                <a:spcPts val="0"/>
              </a:spcBef>
              <a:spcAft>
                <a:spcPts val="0"/>
              </a:spcAft>
              <a:defRPr sz="1600" b="0" i="0">
                <a:solidFill>
                  <a:srgbClr val="E8E8E8"/>
                </a:solidFill>
                <a:latin typeface="Calibri"/>
              </a:defRPr>
            </a:pPr>
          </a:p>
          <a:p>
            <a:pPr algn="ctr">
              <a:spcBef>
                <a:spcPts val="1600"/>
              </a:spcBef>
              <a:spcAft>
                <a:spcPts val="0"/>
              </a:spcAft>
              <a:defRPr sz="2000" b="0" i="0">
                <a:solidFill>
                  <a:srgbClr val="E8E8E8"/>
                </a:solidFill>
                <a:latin typeface="Calibri"/>
              </a:defRPr>
            </a:pPr>
            <a:r>
              <a:t>github.com/Sagar2366/gpu-noisy-neighbour</a:t>
            </a:r>
          </a:p>
          <a:p>
            <a:pPr algn="ctr">
              <a:spcBef>
                <a:spcPts val="1200"/>
              </a:spcBef>
              <a:spcAft>
                <a:spcPts val="0"/>
              </a:spcAft>
              <a:defRPr sz="1800" b="0" i="0">
                <a:solidFill>
                  <a:srgbClr val="00D4FF"/>
                </a:solidFill>
                <a:latin typeface="Calibri"/>
              </a:defRPr>
            </a:pPr>
            <a:r>
              <a:t>@SaijUtekar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